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1" r:id="rId6"/>
    <p:sldId id="263" r:id="rId7"/>
    <p:sldId id="262" r:id="rId8"/>
    <p:sldId id="260" r:id="rId9"/>
    <p:sldId id="266" r:id="rId10"/>
    <p:sldId id="267" r:id="rId11"/>
    <p:sldId id="268" r:id="rId12"/>
    <p:sldId id="264" r:id="rId13"/>
    <p:sldId id="265"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2" dt="2026-10-11T00:12:10.711"/>
    <p1510:client id="{6CE544C8-9E1A-0578-5930-250C525C47ED}" v="26" dt="2026-10-11T12:43:57.670"/>
    <p1510:client id="{6ED7DDA3-3B06-BD35-F3AB-5F8FD636EDF9}" v="2" dt="2026-10-11T13:37:09.050"/>
    <p1510:client id="{6FEA8085-646F-4155-AD41-0C526BE06A8B}" v="58" dt="2026-10-11T00:08:15.552"/>
    <p1510:client id="{93594AD1-4A25-B398-DDAD-F7A90B5C7A5A}" v="4" dt="2026-10-10T20:51:53.697"/>
    <p1510:client id="{B98511DD-DD60-0A13-9CAD-1B739928C789}" v="3" dt="2026-10-10T19:03:09.904"/>
    <p1510:client id="{DCBC6BD2-3E68-D0EE-AB22-E05704AFE8D0}" v="94" dt="2026-10-11T13:09:13.705"/>
    <p1510:client id="{FE5726BB-4566-5E59-1296-06EE52707463}" v="1" dt="2026-10-11T14:11:28.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as a retrieval-augmented national park visitor assistant for MSAI 633. Explain that the slides combine the original proposal with the current repository, while keeping formal evaluation pending.</a:t>
            </a:r>
          </a:p>
          <a:p>
            <a:endParaRPr/>
          </a:p>
          <a:p>
            <a:r>
              <a:t>Sources: https://github.com/cleveee/parkguide-ai/blob/main/README.md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Visitor information appears across official pages, PDFs and tables. Seasonal dates complicate interpretation. Our project reduces the effort of locating evidence and exposes the source used. These are motivation statements, not measured visitor-research findings.</a:t>
            </a:r>
          </a:p>
          <a:p>
            <a:endParaRPr/>
          </a:p>
          <a:p>
            <a:r>
              <a:t>Sources: https://github.com/cleveee/parkguide-ai/blob/main/README.md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proposal covers Yosemite, Yellowstone and Grand Canyon. The current UI enforces one park per conversation and clears history on a park change. Cross-park comparisons in the proposal are not an enabled current UI workflow.</a:t>
            </a:r>
          </a:p>
          <a:p>
            <a:endParaRPr/>
          </a:p>
          <a:p>
            <a:r>
              <a:t>Sources: https://github.com/cleveee/parkguide-ai/blob/main/README.md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supplied repository supersedes the older repository link and proposed stack in the document. Explain these as implementation choices, without implying the proposed stack was delivered. Azure uses text-embedding-3-small and the returned gpt-6-luna-2026-09-22 snapshot.</a:t>
            </a:r>
          </a:p>
          <a:p>
            <a:endParaRPr/>
          </a:p>
          <a:p>
            <a:r>
              <a:t>Sources: https://github.com/cleveee/parkguide-ai/blob/main/README.md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Requests follow the allowlist and robots rules at one request start per second. HTML extraction retains headings and table structure, and PDF extraction uses pdfplumber. Fixed windows target 200 tokens with 40-token overlap. Structure-aware chunks group paragraphs by heading and repeat table headers. Character spans connect chunks back to saved normalized sources.</a:t>
            </a:r>
          </a:p>
          <a:p>
            <a:endParaRPr/>
          </a:p>
          <a:p>
            <a:r>
              <a:t>Sources: https://github.com/cleveee/parkguide-ai/blob/main/docs/RETRIEVAL.md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delivered factual claim must cite saved passages and pass AI support review. Exact quotation, number and citation checks support the model review, but semantic mistakes remain possible. The user should see source age and use current official information for safety-sensitive decisions. Browser conversation history stays in memory and clears on reload.</a:t>
            </a:r>
          </a:p>
          <a:p>
            <a:endParaRPr/>
          </a:p>
          <a:p>
            <a:r>
              <a:t>Sources: https://github.com/cleveee/parkguide-ai/blob/main/docs/PARK_SCOPE.md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numbered sequence. A question may refuse or clarify during checks. Hybrid retrieval combines BM25 and dense ranks with reciprocal rank fusion, keeps 20 candidates, and selects at most five passages. Local reranking is optional in the code and enabled in the current local UI. Hosted retrieval omits it. Luna drafts claims and a separate AI call checks only their cited passages.</a:t>
            </a:r>
          </a:p>
          <a:p>
            <a:endParaRPr/>
          </a:p>
          <a:p>
            <a:r>
              <a:t>Sources: https://github.com/cleveee/parkguide-ai/blob/main/docs/RETRIEVAL.md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Counts come from the frozen corpus summary and were also visible in the hosted corpus browser. Table-bearing documents overlap the HTML/PDF counts. The snapshot is not a live conditions feed. Raw capture, hashes and source spans preserve provenance.</a:t>
            </a:r>
          </a:p>
          <a:p>
            <a:endParaRPr/>
          </a:p>
          <a:p>
            <a:r>
              <a:t>Sources: https://github.com/cleveee/parkguide-ai/blob/main/data/corpus_summary.json</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controlled run 20261010T035053Z-24ef6136 used 12 AI-authored diagnostic items, eight with source evidence, and an older generator. These MRR values are not human-verified answer accuracy. Fixed-to-structure dense MRR difference was +0.304 with paired 95% interval [+0.083,+0.513]. Adding reranking changed MRR by -0.073, interval [-0.219,+0.042], so the run does not establish a reranking gain. Top-five evidence coverage was 8/8 for all retrieval variants, a small-set ceiling.</a:t>
            </a:r>
          </a:p>
          <a:p>
            <a:endParaRPr/>
          </a:p>
          <a:p>
            <a:r>
              <a:t>Sources: https://github.com/cleveee/parkguide-ai/blob/main/docs/DIAGNOSTIC_ANALYSIS.md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21 → 20 → 40 → 24/16 → Quality</a:t>
            </a:r>
          </a:p>
          <a:p>
            <a:r>
              <a:rPr lang="en-US"/>
              <a:t>“This slide shows where we currently are with the evaluation of our chatbot and what work is still remaining.</a:t>
            </a:r>
          </a:p>
          <a:p>
            <a:r>
              <a:rPr lang="en-US" b="1"/>
              <a:t>First,</a:t>
            </a:r>
            <a:r>
              <a:rPr lang="en-US"/>
              <a:t> in our diagnostic testing, </a:t>
            </a:r>
            <a:r>
              <a:rPr lang="en-US" b="1"/>
              <a:t>we completed all 21 requests. We also matched 20 out of 21 expected action and boundary checks. </a:t>
            </a:r>
            <a:r>
              <a:rPr lang="en-US"/>
              <a:t>This means the chatbot generally behaved the way we expected during these tests.</a:t>
            </a:r>
          </a:p>
          <a:p>
            <a:r>
              <a:rPr lang="en-US" b="1"/>
              <a:t>We also used human verification </a:t>
            </a:r>
            <a:r>
              <a:rPr lang="en-US"/>
              <a:t>with 40 gold drafts. Basically, </a:t>
            </a:r>
            <a:r>
              <a:rPr lang="en-US" b="1"/>
              <a:t>these are reference questions and answers that we use to compare and evaluate the performance of</a:t>
            </a:r>
            <a:r>
              <a:rPr lang="en-US"/>
              <a:t> the chatbot. Human verification is important because we don't want to depend only on an automated evaluation. We also want a person to check whether the information and sources are actually correct.</a:t>
            </a:r>
          </a:p>
          <a:p>
            <a:r>
              <a:rPr lang="en-US" b="1"/>
              <a:t>For the formal benchmark</a:t>
            </a:r>
            <a:r>
              <a:rPr lang="en-US"/>
              <a:t>, we divide those 40 examples into 24 for development and 16 for testing. The development set is used while we improve and configure the system, while the test set is saved for the final evaluation.</a:t>
            </a:r>
          </a:p>
          <a:p>
            <a:r>
              <a:rPr lang="en-US"/>
              <a:t>Finally, </a:t>
            </a:r>
            <a:r>
              <a:rPr lang="en-US" b="1"/>
              <a:t>we don't evaluate the chatbot only by whether it gives an answer</a:t>
            </a:r>
            <a:r>
              <a:rPr lang="en-US"/>
              <a:t>. We also look at whether it finds the </a:t>
            </a:r>
            <a:r>
              <a:rPr lang="en-US" b="1"/>
              <a:t>correct evidence,</a:t>
            </a:r>
            <a:r>
              <a:rPr lang="en-US"/>
              <a:t> ranks the information correctly, </a:t>
            </a:r>
            <a:r>
              <a:rPr lang="en-US" b="1"/>
              <a:t>gives accurate answers</a:t>
            </a:r>
            <a:r>
              <a:rPr lang="en-US"/>
              <a:t> and citations, knows when to r</a:t>
            </a:r>
            <a:r>
              <a:rPr lang="en-US" b="1"/>
              <a:t>efuse a question</a:t>
            </a:r>
            <a:r>
              <a:rPr lang="en-US"/>
              <a:t>, and </a:t>
            </a:r>
            <a:r>
              <a:rPr lang="en-US" b="1"/>
              <a:t>how quickly it responds.</a:t>
            </a:r>
          </a:p>
          <a:p>
            <a:r>
              <a:rPr lang="en-US" b="1"/>
              <a:t>So overall, our initial results are good, but the formal evaluation helps us determine the actual quality and reliability of the system.”</a:t>
            </a:r>
          </a:p>
          <a:p>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how we can demonstrate our chatbot and also some of its current limitations.</a:t>
            </a:r>
          </a:p>
          <a:p>
            <a:r>
              <a:rPr lang="en-US" b="1"/>
              <a:t>For the demonstration, we first select Yosemite National Park.</a:t>
            </a:r>
            <a:r>
              <a:rPr lang="en-US"/>
              <a:t> Then we can ask a question about the correct distance to keep from a bear outside a developed area.</a:t>
            </a:r>
          </a:p>
          <a:p>
            <a:r>
              <a:rPr lang="en-US"/>
              <a:t>After that, we ask a follow-up question about what happens if the bear is in a developed area. </a:t>
            </a:r>
            <a:r>
              <a:rPr lang="en-US" b="1"/>
              <a:t>This helps us demonstrate that the chatbot can handle a follow-up question while keeping the context of the conversation</a:t>
            </a:r>
            <a:r>
              <a:rPr lang="en-US"/>
              <a:t>.</a:t>
            </a:r>
          </a:p>
          <a:p>
            <a:r>
              <a:rPr lang="en-US" b="1"/>
              <a:t>We can then open the citation and retrieval trace. This is important because our system is a RAG chatbot.</a:t>
            </a:r>
            <a:r>
              <a:rPr lang="en-US"/>
              <a:t> Instead of simply generating an answer, it first retrieves information from our park documents and uses that information to answer the question. The citation lets the user see where the information came from.</a:t>
            </a:r>
          </a:p>
          <a:p>
            <a:r>
              <a:rPr lang="en-US" b="1"/>
              <a:t>Then we can ask about something like the current road status.</a:t>
            </a:r>
            <a:r>
              <a:rPr lang="en-US"/>
              <a:t> This demonstrates an important limitation. Our chatbot works with a saved corpus of documents, so that information can become outdated. The chatbot should not pretend that old information is current.</a:t>
            </a:r>
          </a:p>
          <a:p>
            <a:r>
              <a:rPr lang="en-US"/>
              <a:t>W</a:t>
            </a:r>
            <a:r>
              <a:rPr lang="en-US" b="1"/>
              <a:t>e also have some other limitations. Information inside PDF tables can be more difficult to process correctly. AI review can sometimes refuse questions unnecessarily, and our hosted application currently doesn't use reranking.</a:t>
            </a:r>
          </a:p>
          <a:p>
            <a:r>
              <a:rPr lang="en-US" b="1"/>
              <a:t>So the main goal of the demonstration is to show both sides: what our chatbot can do successfully, but also where we still have limitations and opportunities to improve the system.”</a:t>
            </a:r>
          </a:p>
          <a:p>
            <a:r>
              <a:rPr lang="en-US"/>
              <a:t>Yosemite → Bear → Follow-up → Citation → Road → Limits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captured from the provided live website on October 10, 2026. The park selector gates chat entry. During the demo, select Yosemite and inspect the source excerpt and retrieval/data-flow tabs after a response. This slide documents the interface, not a tested answer.</a:t>
            </a:r>
          </a:p>
          <a:p>
            <a:endParaRPr/>
          </a:p>
          <a:p>
            <a:r>
              <a:t>Sources: https://github.com/cleveee/parkguide-ai/blob/main/README.md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captured from the live Corpus view. It confirms 155 documents and both chunk builds. The UI separates stored text from the current official page and offers park/type filters. The visible corpus counts are operational evidence, not answer-quality results.</a:t>
            </a:r>
          </a:p>
          <a:p>
            <a:endParaRPr/>
          </a:p>
          <a:p>
            <a:r>
              <a:t>Sources: https://github.com/cleveee/parkguide-ai/blob/main/README.md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names come from the supplied proposal. Individual role assignments remain unconfirmed. Proposed responsibilities cover ingestion, retrieval, generation/interface, and evaluation/ethics, with cross-stage contributions. Finish human verification and course collaboration requirements. The repository credits Codex and scoped agents for implementation and drafts, with no agent certification of human review. Close by inviting questions and opening the provided live demo.</a:t>
            </a:r>
          </a:p>
          <a:p>
            <a:endParaRPr/>
          </a:p>
          <a:p>
            <a:r>
              <a:t>Sources: https://github.com/cleveee/parkguide-ai/blob/main/README.md</a:t>
            </a:r>
          </a:p>
          <a:p>
            <a:r>
              <a:t>Proposal: ParkGuide_AI_Project_Proposal (2).docx, dated October 9, 2026. Repository and live website reviewed October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2736-6DD7-E808-92AA-41537D526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F7BAA-4EF5-E34E-3A4A-2A65D2352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8564E-39FF-1EE2-C5A3-029C27092FFA}"/>
              </a:ext>
            </a:extLst>
          </p:cNvPr>
          <p:cNvSpPr>
            <a:spLocks noGrp="1"/>
          </p:cNvSpPr>
          <p:nvPr>
            <p:ph type="body" idx="1"/>
          </p:nvPr>
        </p:nvSpPr>
        <p:spPr/>
        <p:txBody>
          <a:bodyPr/>
          <a:lstStyle/>
          <a:p>
            <a:r>
              <a:t>Team names come from the supplied proposal. Individual role assignments remain unconfirmed. Proposed responsibilities cover ingestion, retrieval, generation/interface, and evaluation/ethics, with cross-stage contributions. Finish human verification and course collaboration requirements. The repository credits Codex and scoped agents for implementation and drafts, with no agent certification of human review. Close by inviting questions and opening the provided live demo.</a:t>
            </a:r>
          </a:p>
          <a:p>
            <a:endParaRPr/>
          </a:p>
          <a:p>
            <a:r>
              <a:t>Sources: https://github.com/cleveee/parkguide-ai/blob/main/README.md</a:t>
            </a:r>
          </a:p>
          <a:p>
            <a:r>
              <a:t>Proposal: ParkGuide_AI_Project_Proposal (2).docx, dated October 9, 2026. Repository and live website reviewed October 10, 2026.</a:t>
            </a:r>
          </a:p>
        </p:txBody>
      </p:sp>
      <p:sp>
        <p:nvSpPr>
          <p:cNvPr id="4" name="Slide Number Placeholder 3">
            <a:extLst>
              <a:ext uri="{FF2B5EF4-FFF2-40B4-BE49-F238E27FC236}">
                <a16:creationId xmlns:a16="http://schemas.microsoft.com/office/drawing/2014/main" id="{03BA8C00-C278-E640-D578-B1F02CFAE01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80156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42C3367-02B6-4382-8A39-47A716470A0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89968327-C78B-44DA-BCED-15ADAA4483F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606AF76-BF36-42A8-B715-7D55C8C1EBF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6679162-1F65-4191-B1D3-92819A9352E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376EDE63-F8C8-4F68-BD40-588D9AC84EE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C45E3AA-A44F-433A-8B72-54119D2EB03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91F4A8B-CBC1-4B05-BCC2-2F73389072E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8000C10A-17EA-47B5-A1D8-941B48A1964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18B9854-086A-4587-AB1A-F4E9DC65EA8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361C37A-4D71-4529-BC88-FF52F835121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4C3B"/>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CC039F-2607-449E-A9FE-250C84F8CC25}"/>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ParkGuide AI</a:t>
            </a:r>
          </a:p>
        </p:txBody>
      </p:sp>
      <p:sp>
        <p:nvSpPr>
          <p:cNvPr id="2" name="Rectangle 1">
            <a:extLst>
              <a:ext uri="{FF2B5EF4-FFF2-40B4-BE49-F238E27FC236}">
                <a16:creationId xmlns:a16="http://schemas.microsoft.com/office/drawing/2014/main" id="{A8B58240-A554-4DC8-B524-3A19662C06D7}"/>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01</a:t>
            </a:r>
          </a:p>
        </p:txBody>
      </p:sp>
      <p:sp>
        <p:nvSpPr>
          <p:cNvPr id="3" name="Rectangle 2">
            <a:extLst>
              <a:ext uri="{FF2B5EF4-FFF2-40B4-BE49-F238E27FC236}">
                <a16:creationId xmlns:a16="http://schemas.microsoft.com/office/drawing/2014/main" id="{0181857F-9C07-45D7-8655-272DBE6A31FC}"/>
              </a:ext>
            </a:extLst>
          </p:cNvPr>
          <p:cNvSpPr>
            <a:spLocks noGrp="1"/>
          </p:cNvSpPr>
          <p:nvPr/>
        </p:nvSpPr>
        <p:spPr>
          <a:xfrm>
            <a:off x="609600" y="1524000"/>
            <a:ext cx="10668000" cy="1047750"/>
          </a:xfrm>
          <a:prstGeom prst="rect">
            <a:avLst/>
          </a:prstGeom>
          <a:noFill/>
          <a:ln w="0">
            <a:noFill/>
          </a:ln>
        </p:spPr>
        <p:txBody>
          <a:bodyPr lIns="91440" tIns="45720" rIns="91440" bIns="45720" anchor="t"/>
          <a:lstStyle>
            <a:defPPr>
              <a:defRPr sz="5700" b="1">
                <a:solidFill>
                  <a:srgbClr val="FFFFFF"/>
                </a:solidFill>
              </a:defRPr>
            </a:defPPr>
          </a:lstStyle>
          <a:p>
            <a:pPr>
              <a:defRPr sz="5700" b="1">
                <a:solidFill>
                  <a:srgbClr val="FFFFFF"/>
                </a:solidFill>
              </a:defRPr>
            </a:pPr>
            <a:r>
              <a:rPr sz="5700" b="1" err="1">
                <a:solidFill>
                  <a:srgbClr val="FFFFFF"/>
                </a:solidFill>
              </a:rPr>
              <a:t>ParkGuide</a:t>
            </a:r>
            <a:r>
              <a:rPr sz="5700" b="1">
                <a:solidFill>
                  <a:srgbClr val="FFFFFF"/>
                </a:solidFill>
              </a:rPr>
              <a:t> AI</a:t>
            </a:r>
          </a:p>
        </p:txBody>
      </p:sp>
      <p:sp>
        <p:nvSpPr>
          <p:cNvPr id="4" name="Rectangle 3">
            <a:extLst>
              <a:ext uri="{FF2B5EF4-FFF2-40B4-BE49-F238E27FC236}">
                <a16:creationId xmlns:a16="http://schemas.microsoft.com/office/drawing/2014/main" id="{5D17F67D-404B-4BC3-83D2-9BA0FA5298A0}"/>
              </a:ext>
            </a:extLst>
          </p:cNvPr>
          <p:cNvSpPr>
            <a:spLocks noGrp="1"/>
          </p:cNvSpPr>
          <p:nvPr/>
        </p:nvSpPr>
        <p:spPr>
          <a:xfrm>
            <a:off x="647700" y="2838450"/>
            <a:ext cx="10096500" cy="1047750"/>
          </a:xfrm>
          <a:prstGeom prst="rect">
            <a:avLst/>
          </a:prstGeom>
          <a:noFill/>
          <a:ln w="0">
            <a:noFill/>
          </a:ln>
        </p:spPr>
        <p:txBody>
          <a:bodyPr/>
          <a:lstStyle>
            <a:defPPr>
              <a:defRPr sz="2850" b="0">
                <a:solidFill>
                  <a:srgbClr val="E7EADD"/>
                </a:solidFill>
              </a:defRPr>
            </a:defPPr>
          </a:lstStyle>
          <a:p>
            <a:pPr>
              <a:defRPr sz="2850" b="0">
                <a:solidFill>
                  <a:srgbClr val="E7EADD"/>
                </a:solidFill>
              </a:defRPr>
            </a:pPr>
            <a:r>
              <a:rPr sz="2850" b="0">
                <a:solidFill>
                  <a:srgbClr val="E7EADD"/>
                </a:solidFill>
              </a:rPr>
              <a:t>A retrieval-augmented visitor assistant</a:t>
            </a:r>
          </a:p>
          <a:p>
            <a:pPr>
              <a:defRPr sz="2850" b="0">
                <a:solidFill>
                  <a:srgbClr val="E7EADD"/>
                </a:solidFill>
              </a:defRPr>
            </a:pPr>
            <a:r>
              <a:rPr sz="2850" b="0">
                <a:solidFill>
                  <a:srgbClr val="E7EADD"/>
                </a:solidFill>
              </a:rPr>
              <a:t>for U.S. national parks</a:t>
            </a:r>
          </a:p>
        </p:txBody>
      </p:sp>
      <p:sp>
        <p:nvSpPr>
          <p:cNvPr id="5" name="Rectangle 4">
            <a:extLst>
              <a:ext uri="{FF2B5EF4-FFF2-40B4-BE49-F238E27FC236}">
                <a16:creationId xmlns:a16="http://schemas.microsoft.com/office/drawing/2014/main" id="{78DFD4B2-823B-43A5-9928-D7FF34DC50C3}"/>
              </a:ext>
            </a:extLst>
          </p:cNvPr>
          <p:cNvSpPr>
            <a:spLocks noGrp="1"/>
          </p:cNvSpPr>
          <p:nvPr/>
        </p:nvSpPr>
        <p:spPr>
          <a:xfrm>
            <a:off x="647700" y="5286375"/>
            <a:ext cx="10382250" cy="381000"/>
          </a:xfrm>
          <a:prstGeom prst="rect">
            <a:avLst/>
          </a:prstGeom>
          <a:noFill/>
          <a:ln w="0">
            <a:noFill/>
          </a:ln>
        </p:spPr>
        <p:txBody>
          <a:bodyPr/>
          <a:lstStyle>
            <a:defPPr>
              <a:defRPr sz="1800" b="0">
                <a:solidFill>
                  <a:srgbClr val="C5D4C7"/>
                </a:solidFill>
              </a:defRPr>
            </a:defPPr>
          </a:lstStyle>
          <a:p>
            <a:pPr>
              <a:defRPr sz="1800" b="0">
                <a:solidFill>
                  <a:srgbClr val="C5D4C7"/>
                </a:solidFill>
              </a:defRPr>
            </a:pPr>
            <a:r>
              <a:rPr sz="1800" b="0">
                <a:solidFill>
                  <a:srgbClr val="C5D4C7"/>
                </a:solidFill>
              </a:rPr>
              <a:t>MSAI 633   /   Project presentation   /   October 2026</a:t>
            </a:r>
          </a:p>
        </p:txBody>
      </p:sp>
    </p:spTree>
    <p:extLst>
      <p:ext uri="{BB962C8B-B14F-4D97-AF65-F5344CB8AC3E}">
        <p14:creationId xmlns:p14="http://schemas.microsoft.com/office/powerpoint/2010/main" val="379715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236D91-3470-467C-814F-464562289365}"/>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The </a:t>
            </a:r>
            <a:r>
              <a:rPr lang="en-IN" sz="3300" b="1">
                <a:solidFill>
                  <a:srgbClr val="204C3B"/>
                </a:solidFill>
              </a:rPr>
              <a:t>V</a:t>
            </a:r>
            <a:r>
              <a:rPr sz="3300" b="1" err="1">
                <a:solidFill>
                  <a:srgbClr val="204C3B"/>
                </a:solidFill>
              </a:rPr>
              <a:t>isitor</a:t>
            </a:r>
            <a:r>
              <a:rPr sz="3300" b="1">
                <a:solidFill>
                  <a:srgbClr val="204C3B"/>
                </a:solidFill>
              </a:rPr>
              <a:t> </a:t>
            </a:r>
            <a:r>
              <a:rPr lang="en-IN" sz="3300" b="1">
                <a:solidFill>
                  <a:srgbClr val="204C3B"/>
                </a:solidFill>
              </a:rPr>
              <a:t>I</a:t>
            </a:r>
            <a:r>
              <a:rPr sz="3300" b="1" err="1">
                <a:solidFill>
                  <a:srgbClr val="204C3B"/>
                </a:solidFill>
              </a:rPr>
              <a:t>nformation</a:t>
            </a:r>
            <a:r>
              <a:rPr sz="3300" b="1">
                <a:solidFill>
                  <a:srgbClr val="204C3B"/>
                </a:solidFill>
              </a:rPr>
              <a:t> </a:t>
            </a:r>
            <a:r>
              <a:rPr lang="en-IN" sz="3300" b="1">
                <a:solidFill>
                  <a:srgbClr val="204C3B"/>
                </a:solidFill>
              </a:rPr>
              <a:t>P</a:t>
            </a:r>
            <a:r>
              <a:rPr sz="3300" b="1">
                <a:solidFill>
                  <a:srgbClr val="204C3B"/>
                </a:solidFill>
              </a:rPr>
              <a:t>roblem</a:t>
            </a:r>
          </a:p>
        </p:txBody>
      </p:sp>
      <p:sp>
        <p:nvSpPr>
          <p:cNvPr id="2" name="Rectangle 1">
            <a:extLst>
              <a:ext uri="{FF2B5EF4-FFF2-40B4-BE49-F238E27FC236}">
                <a16:creationId xmlns:a16="http://schemas.microsoft.com/office/drawing/2014/main" id="{3F6CE48D-E0F8-4A51-BA5A-2E42579F5265}"/>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02</a:t>
            </a:r>
          </a:p>
        </p:txBody>
      </p:sp>
      <p:sp>
        <p:nvSpPr>
          <p:cNvPr id="3" name="Rectangle 2">
            <a:extLst>
              <a:ext uri="{FF2B5EF4-FFF2-40B4-BE49-F238E27FC236}">
                <a16:creationId xmlns:a16="http://schemas.microsoft.com/office/drawing/2014/main" id="{3497B68C-2470-4E16-9BF1-CB856F75E887}"/>
              </a:ext>
            </a:extLst>
          </p:cNvPr>
          <p:cNvSpPr>
            <a:spLocks noGrp="1"/>
          </p:cNvSpPr>
          <p:nvPr/>
        </p:nvSpPr>
        <p:spPr>
          <a:xfrm>
            <a:off x="609600" y="16668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Scattered information</a:t>
            </a:r>
          </a:p>
        </p:txBody>
      </p:sp>
      <p:sp>
        <p:nvSpPr>
          <p:cNvPr id="4" name="Rectangle 3">
            <a:extLst>
              <a:ext uri="{FF2B5EF4-FFF2-40B4-BE49-F238E27FC236}">
                <a16:creationId xmlns:a16="http://schemas.microsoft.com/office/drawing/2014/main" id="{AD8C1D79-1FC8-41D7-A075-93C0280A9F7A}"/>
              </a:ext>
            </a:extLst>
          </p:cNvPr>
          <p:cNvSpPr>
            <a:spLocks noGrp="1"/>
          </p:cNvSpPr>
          <p:nvPr/>
        </p:nvSpPr>
        <p:spPr>
          <a:xfrm>
            <a:off x="4572000" y="16668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Fees, permits, camping rules and accessibility details live across many NPS pages.</a:t>
            </a:r>
          </a:p>
        </p:txBody>
      </p:sp>
      <p:sp>
        <p:nvSpPr>
          <p:cNvPr id="5" name="Rectangle 4">
            <a:extLst>
              <a:ext uri="{FF2B5EF4-FFF2-40B4-BE49-F238E27FC236}">
                <a16:creationId xmlns:a16="http://schemas.microsoft.com/office/drawing/2014/main" id="{6FE5405C-8C4F-4D83-8EA2-E9E50C581EDA}"/>
              </a:ext>
            </a:extLst>
          </p:cNvPr>
          <p:cNvSpPr>
            <a:spLocks noGrp="1"/>
          </p:cNvSpPr>
          <p:nvPr/>
        </p:nvSpPr>
        <p:spPr>
          <a:xfrm>
            <a:off x="609600" y="27336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Context matters</a:t>
            </a:r>
          </a:p>
        </p:txBody>
      </p:sp>
      <p:sp>
        <p:nvSpPr>
          <p:cNvPr id="6" name="Rectangle 5">
            <a:extLst>
              <a:ext uri="{FF2B5EF4-FFF2-40B4-BE49-F238E27FC236}">
                <a16:creationId xmlns:a16="http://schemas.microsoft.com/office/drawing/2014/main" id="{98FEC805-E483-42DA-ACBE-B4546515EA58}"/>
              </a:ext>
            </a:extLst>
          </p:cNvPr>
          <p:cNvSpPr>
            <a:spLocks noGrp="1"/>
          </p:cNvSpPr>
          <p:nvPr/>
        </p:nvSpPr>
        <p:spPr>
          <a:xfrm>
            <a:off x="4572000" y="27336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Park, season and the effective date can change which information applies.</a:t>
            </a:r>
          </a:p>
        </p:txBody>
      </p:sp>
      <p:sp>
        <p:nvSpPr>
          <p:cNvPr id="7" name="Rectangle 6">
            <a:extLst>
              <a:ext uri="{FF2B5EF4-FFF2-40B4-BE49-F238E27FC236}">
                <a16:creationId xmlns:a16="http://schemas.microsoft.com/office/drawing/2014/main" id="{3DF4680B-2873-49EF-B78A-D725CE4D8031}"/>
              </a:ext>
            </a:extLst>
          </p:cNvPr>
          <p:cNvSpPr>
            <a:spLocks noGrp="1"/>
          </p:cNvSpPr>
          <p:nvPr/>
        </p:nvSpPr>
        <p:spPr>
          <a:xfrm>
            <a:off x="609600" y="38004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Evidence matters</a:t>
            </a:r>
          </a:p>
        </p:txBody>
      </p:sp>
      <p:sp>
        <p:nvSpPr>
          <p:cNvPr id="8" name="Rectangle 7">
            <a:extLst>
              <a:ext uri="{FF2B5EF4-FFF2-40B4-BE49-F238E27FC236}">
                <a16:creationId xmlns:a16="http://schemas.microsoft.com/office/drawing/2014/main" id="{919A5A97-911D-403F-8DD9-B0D19ABE7471}"/>
              </a:ext>
            </a:extLst>
          </p:cNvPr>
          <p:cNvSpPr>
            <a:spLocks noGrp="1"/>
          </p:cNvSpPr>
          <p:nvPr/>
        </p:nvSpPr>
        <p:spPr>
          <a:xfrm>
            <a:off x="4572000" y="38004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A fluent answer needs supporting passages and a clear response when evidence is missing.</a:t>
            </a:r>
          </a:p>
        </p:txBody>
      </p:sp>
    </p:spTree>
    <p:extLst>
      <p:ext uri="{BB962C8B-B14F-4D97-AF65-F5344CB8AC3E}">
        <p14:creationId xmlns:p14="http://schemas.microsoft.com/office/powerpoint/2010/main" val="1955063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FB62374-FC3A-4A28-8DCD-E68912AE5144}"/>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Project </a:t>
            </a:r>
            <a:r>
              <a:rPr lang="en-IN" sz="3300" b="1">
                <a:solidFill>
                  <a:srgbClr val="204C3B"/>
                </a:solidFill>
              </a:rPr>
              <a:t>S</a:t>
            </a:r>
            <a:r>
              <a:rPr sz="3300" b="1">
                <a:solidFill>
                  <a:srgbClr val="204C3B"/>
                </a:solidFill>
              </a:rPr>
              <a:t>cope</a:t>
            </a:r>
          </a:p>
        </p:txBody>
      </p:sp>
      <p:sp>
        <p:nvSpPr>
          <p:cNvPr id="2" name="Rectangle 1">
            <a:extLst>
              <a:ext uri="{FF2B5EF4-FFF2-40B4-BE49-F238E27FC236}">
                <a16:creationId xmlns:a16="http://schemas.microsoft.com/office/drawing/2014/main" id="{0063CE7B-B662-40C4-AADD-EA6648D1A9E1}"/>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03</a:t>
            </a:r>
          </a:p>
        </p:txBody>
      </p:sp>
      <p:sp>
        <p:nvSpPr>
          <p:cNvPr id="3" name="Rectangle 2">
            <a:extLst>
              <a:ext uri="{FF2B5EF4-FFF2-40B4-BE49-F238E27FC236}">
                <a16:creationId xmlns:a16="http://schemas.microsoft.com/office/drawing/2014/main" id="{AC4B2B33-5553-4EB3-A8D6-1F6E480B27BF}"/>
              </a:ext>
            </a:extLst>
          </p:cNvPr>
          <p:cNvSpPr>
            <a:spLocks noGrp="1"/>
          </p:cNvSpPr>
          <p:nvPr/>
        </p:nvSpPr>
        <p:spPr>
          <a:xfrm>
            <a:off x="609600" y="16668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Three national parks</a:t>
            </a:r>
          </a:p>
        </p:txBody>
      </p:sp>
      <p:sp>
        <p:nvSpPr>
          <p:cNvPr id="4" name="Rectangle 3">
            <a:extLst>
              <a:ext uri="{FF2B5EF4-FFF2-40B4-BE49-F238E27FC236}">
                <a16:creationId xmlns:a16="http://schemas.microsoft.com/office/drawing/2014/main" id="{45384DD0-1571-408D-A0D8-08A7E6DBACC2}"/>
              </a:ext>
            </a:extLst>
          </p:cNvPr>
          <p:cNvSpPr>
            <a:spLocks noGrp="1"/>
          </p:cNvSpPr>
          <p:nvPr/>
        </p:nvSpPr>
        <p:spPr>
          <a:xfrm>
            <a:off x="4572000" y="16668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Yosemite, Yellowstone and Grand Canyon</a:t>
            </a:r>
          </a:p>
        </p:txBody>
      </p:sp>
      <p:sp>
        <p:nvSpPr>
          <p:cNvPr id="5" name="Rectangle 4">
            <a:extLst>
              <a:ext uri="{FF2B5EF4-FFF2-40B4-BE49-F238E27FC236}">
                <a16:creationId xmlns:a16="http://schemas.microsoft.com/office/drawing/2014/main" id="{B85F21B5-50BB-4BFC-8E47-50BA49E9FB89}"/>
              </a:ext>
            </a:extLst>
          </p:cNvPr>
          <p:cNvSpPr>
            <a:spLocks noGrp="1"/>
          </p:cNvSpPr>
          <p:nvPr/>
        </p:nvSpPr>
        <p:spPr>
          <a:xfrm>
            <a:off x="609600" y="27336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Visitor planning</a:t>
            </a:r>
          </a:p>
        </p:txBody>
      </p:sp>
      <p:sp>
        <p:nvSpPr>
          <p:cNvPr id="6" name="Rectangle 5">
            <a:extLst>
              <a:ext uri="{FF2B5EF4-FFF2-40B4-BE49-F238E27FC236}">
                <a16:creationId xmlns:a16="http://schemas.microsoft.com/office/drawing/2014/main" id="{3A277F55-F9B7-4191-9F2B-AC4467E5C634}"/>
              </a:ext>
            </a:extLst>
          </p:cNvPr>
          <p:cNvSpPr>
            <a:spLocks noGrp="1"/>
          </p:cNvSpPr>
          <p:nvPr/>
        </p:nvSpPr>
        <p:spPr>
          <a:xfrm>
            <a:off x="4572000" y="27336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Fees, camping, permits, accessibility, facilities and seasonal rules</a:t>
            </a:r>
          </a:p>
        </p:txBody>
      </p:sp>
      <p:sp>
        <p:nvSpPr>
          <p:cNvPr id="7" name="Rectangle 6">
            <a:extLst>
              <a:ext uri="{FF2B5EF4-FFF2-40B4-BE49-F238E27FC236}">
                <a16:creationId xmlns:a16="http://schemas.microsoft.com/office/drawing/2014/main" id="{20E8B00C-52C5-47BE-B0D9-3D9242422BCF}"/>
              </a:ext>
            </a:extLst>
          </p:cNvPr>
          <p:cNvSpPr>
            <a:spLocks noGrp="1"/>
          </p:cNvSpPr>
          <p:nvPr/>
        </p:nvSpPr>
        <p:spPr>
          <a:xfrm>
            <a:off x="609600" y="38004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Scope boundaries</a:t>
            </a:r>
          </a:p>
        </p:txBody>
      </p:sp>
      <p:sp>
        <p:nvSpPr>
          <p:cNvPr id="8" name="Rectangle 7">
            <a:extLst>
              <a:ext uri="{FF2B5EF4-FFF2-40B4-BE49-F238E27FC236}">
                <a16:creationId xmlns:a16="http://schemas.microsoft.com/office/drawing/2014/main" id="{5F0C752A-B644-4DCD-98B3-23AEB18BD80D}"/>
              </a:ext>
            </a:extLst>
          </p:cNvPr>
          <p:cNvSpPr>
            <a:spLocks noGrp="1"/>
          </p:cNvSpPr>
          <p:nvPr/>
        </p:nvSpPr>
        <p:spPr>
          <a:xfrm>
            <a:off x="4572000" y="38004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No reservations, private booking lookup, live availability or personalized hiking-safety assessment</a:t>
            </a:r>
          </a:p>
        </p:txBody>
      </p:sp>
      <p:sp>
        <p:nvSpPr>
          <p:cNvPr id="9" name="Rectangle 8">
            <a:extLst>
              <a:ext uri="{FF2B5EF4-FFF2-40B4-BE49-F238E27FC236}">
                <a16:creationId xmlns:a16="http://schemas.microsoft.com/office/drawing/2014/main" id="{BCE47961-89DA-4D90-8B45-FC9808C9BD21}"/>
              </a:ext>
            </a:extLst>
          </p:cNvPr>
          <p:cNvSpPr>
            <a:spLocks noGrp="1"/>
          </p:cNvSpPr>
          <p:nvPr/>
        </p:nvSpPr>
        <p:spPr>
          <a:xfrm>
            <a:off x="609600" y="48672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Current conversation</a:t>
            </a:r>
          </a:p>
        </p:txBody>
      </p:sp>
      <p:sp>
        <p:nvSpPr>
          <p:cNvPr id="10" name="Rectangle 9">
            <a:extLst>
              <a:ext uri="{FF2B5EF4-FFF2-40B4-BE49-F238E27FC236}">
                <a16:creationId xmlns:a16="http://schemas.microsoft.com/office/drawing/2014/main" id="{749AF513-4755-4A27-AA46-69FFABB2355C}"/>
              </a:ext>
            </a:extLst>
          </p:cNvPr>
          <p:cNvSpPr>
            <a:spLocks noGrp="1"/>
          </p:cNvSpPr>
          <p:nvPr/>
        </p:nvSpPr>
        <p:spPr>
          <a:xfrm>
            <a:off x="4572000" y="48672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One selected park, with follow-up questions and inspectable sources</a:t>
            </a:r>
          </a:p>
        </p:txBody>
      </p:sp>
    </p:spTree>
    <p:extLst>
      <p:ext uri="{BB962C8B-B14F-4D97-AF65-F5344CB8AC3E}">
        <p14:creationId xmlns:p14="http://schemas.microsoft.com/office/powerpoint/2010/main" val="1140163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2B31DD-382F-4E28-B103-6871DAFE32D9}"/>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Proposal and </a:t>
            </a:r>
            <a:r>
              <a:rPr lang="en-IN" sz="3300" b="1">
                <a:solidFill>
                  <a:srgbClr val="204C3B"/>
                </a:solidFill>
              </a:rPr>
              <a:t>I</a:t>
            </a:r>
            <a:r>
              <a:rPr sz="3300" b="1" err="1">
                <a:solidFill>
                  <a:srgbClr val="204C3B"/>
                </a:solidFill>
              </a:rPr>
              <a:t>mplemented</a:t>
            </a:r>
            <a:r>
              <a:rPr sz="3300" b="1">
                <a:solidFill>
                  <a:srgbClr val="204C3B"/>
                </a:solidFill>
              </a:rPr>
              <a:t> </a:t>
            </a:r>
            <a:r>
              <a:rPr lang="en-IN" sz="3300" b="1">
                <a:solidFill>
                  <a:srgbClr val="204C3B"/>
                </a:solidFill>
              </a:rPr>
              <a:t>S</a:t>
            </a:r>
            <a:r>
              <a:rPr sz="3300" b="1">
                <a:solidFill>
                  <a:srgbClr val="204C3B"/>
                </a:solidFill>
              </a:rPr>
              <a:t>ystem</a:t>
            </a:r>
          </a:p>
        </p:txBody>
      </p:sp>
      <p:sp>
        <p:nvSpPr>
          <p:cNvPr id="2" name="Rectangle 1">
            <a:extLst>
              <a:ext uri="{FF2B5EF4-FFF2-40B4-BE49-F238E27FC236}">
                <a16:creationId xmlns:a16="http://schemas.microsoft.com/office/drawing/2014/main" id="{69D15618-9D15-492F-88C9-3B3867FEBD89}"/>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04</a:t>
            </a:r>
          </a:p>
        </p:txBody>
      </p:sp>
      <p:graphicFrame>
        <p:nvGraphicFramePr>
          <p:cNvPr id="3" name="Table 2">
            <a:extLst>
              <a:ext uri="{FF2B5EF4-FFF2-40B4-BE49-F238E27FC236}">
                <a16:creationId xmlns:a16="http://schemas.microsoft.com/office/drawing/2014/main" id="{B1D20670-753E-4F09-8F45-01A7C481CF1B}"/>
              </a:ext>
            </a:extLst>
          </p:cNvPr>
          <p:cNvGraphicFramePr/>
          <p:nvPr>
            <p:extLst>
              <p:ext uri="{D42A27DB-BD31-4B8C-83A1-F6EECF244321}">
                <p14:modId xmlns:p14="http://schemas.microsoft.com/office/powerpoint/2010/main" val="3456436620"/>
              </p:ext>
            </p:extLst>
          </p:nvPr>
        </p:nvGraphicFramePr>
        <p:xfrm>
          <a:off x="609600" y="1524000"/>
          <a:ext cx="10972800" cy="4095750"/>
        </p:xfrm>
        <a:graphic>
          <a:graphicData uri="http://schemas.openxmlformats.org/drawingml/2006/table">
            <a:tbl>
              <a:tblPr/>
              <a:tblGrid>
                <a:gridCol w="276225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400550">
                  <a:extLst>
                    <a:ext uri="{9D8B030D-6E8A-4147-A177-3AD203B41FA5}">
                      <a16:colId xmlns:a16="http://schemas.microsoft.com/office/drawing/2014/main" val="20002"/>
                    </a:ext>
                  </a:extLst>
                </a:gridCol>
              </a:tblGrid>
              <a:tr h="682625">
                <a:tc>
                  <a:txBody>
                    <a:bodyPr/>
                    <a:lstStyle/>
                    <a:p>
                      <a:r>
                        <a:rPr sz="1800" b="1">
                          <a:solidFill>
                            <a:srgbClr val="FFFFFF"/>
                          </a:solidFill>
                        </a:rPr>
                        <a:t>Component</a:t>
                      </a:r>
                    </a:p>
                  </a:txBody>
                  <a:tcPr>
                    <a:solidFill>
                      <a:srgbClr val="204C3B"/>
                    </a:solidFill>
                  </a:tcPr>
                </a:tc>
                <a:tc>
                  <a:txBody>
                    <a:bodyPr/>
                    <a:lstStyle/>
                    <a:p>
                      <a:r>
                        <a:rPr sz="1800" b="1">
                          <a:solidFill>
                            <a:srgbClr val="FFFFFF"/>
                          </a:solidFill>
                        </a:rPr>
                        <a:t>Original proposal</a:t>
                      </a:r>
                    </a:p>
                  </a:txBody>
                  <a:tcPr>
                    <a:solidFill>
                      <a:srgbClr val="204C3B"/>
                    </a:solidFill>
                  </a:tcPr>
                </a:tc>
                <a:tc>
                  <a:txBody>
                    <a:bodyPr/>
                    <a:lstStyle/>
                    <a:p>
                      <a:r>
                        <a:rPr sz="1800" b="1">
                          <a:solidFill>
                            <a:srgbClr val="FFFFFF"/>
                          </a:solidFill>
                        </a:rPr>
                        <a:t>Current repository</a:t>
                      </a:r>
                    </a:p>
                  </a:txBody>
                  <a:tcPr>
                    <a:solidFill>
                      <a:srgbClr val="204C3B"/>
                    </a:solidFill>
                  </a:tcPr>
                </a:tc>
                <a:extLst>
                  <a:ext uri="{0D108BD9-81ED-4DB2-BD59-A6C34878D82A}">
                    <a16:rowId xmlns:a16="http://schemas.microsoft.com/office/drawing/2014/main" val="10000"/>
                  </a:ext>
                </a:extLst>
              </a:tr>
              <a:tr h="682625">
                <a:tc>
                  <a:txBody>
                    <a:bodyPr/>
                    <a:lstStyle/>
                    <a:p>
                      <a:r>
                        <a:rPr sz="1800" b="0">
                          <a:solidFill>
                            <a:srgbClr val="1C3029"/>
                          </a:solidFill>
                        </a:rPr>
                        <a:t>Interface</a:t>
                      </a:r>
                    </a:p>
                  </a:txBody>
                  <a:tcPr>
                    <a:solidFill>
                      <a:srgbClr val="FFFFFF"/>
                    </a:solidFill>
                  </a:tcPr>
                </a:tc>
                <a:tc>
                  <a:txBody>
                    <a:bodyPr/>
                    <a:lstStyle/>
                    <a:p>
                      <a:r>
                        <a:rPr sz="1800" b="0">
                          <a:solidFill>
                            <a:srgbClr val="1C3029"/>
                          </a:solidFill>
                        </a:rPr>
                        <a:t>Streamlit</a:t>
                      </a:r>
                    </a:p>
                  </a:txBody>
                  <a:tcPr>
                    <a:solidFill>
                      <a:srgbClr val="FFFFFF"/>
                    </a:solidFill>
                  </a:tcPr>
                </a:tc>
                <a:tc>
                  <a:txBody>
                    <a:bodyPr/>
                    <a:lstStyle/>
                    <a:p>
                      <a:r>
                        <a:rPr sz="1800" b="0">
                          <a:solidFill>
                            <a:srgbClr val="1C3029"/>
                          </a:solidFill>
                        </a:rPr>
                        <a:t>React + TypeScript, FastAPI</a:t>
                      </a:r>
                    </a:p>
                  </a:txBody>
                  <a:tcPr>
                    <a:solidFill>
                      <a:srgbClr val="FFFFFF"/>
                    </a:solidFill>
                  </a:tcPr>
                </a:tc>
                <a:extLst>
                  <a:ext uri="{0D108BD9-81ED-4DB2-BD59-A6C34878D82A}">
                    <a16:rowId xmlns:a16="http://schemas.microsoft.com/office/drawing/2014/main" val="10001"/>
                  </a:ext>
                </a:extLst>
              </a:tr>
              <a:tr h="682625">
                <a:tc>
                  <a:txBody>
                    <a:bodyPr/>
                    <a:lstStyle/>
                    <a:p>
                      <a:r>
                        <a:rPr sz="1800" b="0">
                          <a:solidFill>
                            <a:srgbClr val="1C3029"/>
                          </a:solidFill>
                        </a:rPr>
                        <a:t>Storage / search</a:t>
                      </a:r>
                    </a:p>
                  </a:txBody>
                  <a:tcPr>
                    <a:solidFill>
                      <a:srgbClr val="F5F3EB"/>
                    </a:solidFill>
                  </a:tcPr>
                </a:tc>
                <a:tc>
                  <a:txBody>
                    <a:bodyPr/>
                    <a:lstStyle/>
                    <a:p>
                      <a:r>
                        <a:rPr sz="1800" b="0">
                          <a:solidFill>
                            <a:srgbClr val="1C3029"/>
                          </a:solidFill>
                        </a:rPr>
                        <a:t>Chroma</a:t>
                      </a:r>
                    </a:p>
                  </a:txBody>
                  <a:tcPr>
                    <a:solidFill>
                      <a:srgbClr val="F5F3EB"/>
                    </a:solidFill>
                  </a:tcPr>
                </a:tc>
                <a:tc>
                  <a:txBody>
                    <a:bodyPr/>
                    <a:lstStyle/>
                    <a:p>
                      <a:r>
                        <a:rPr sz="1800" b="0">
                          <a:solidFill>
                            <a:srgbClr val="1C3029"/>
                          </a:solidFill>
                        </a:rPr>
                        <a:t>SQLite, NumPy cosine, BM25</a:t>
                      </a:r>
                    </a:p>
                  </a:txBody>
                  <a:tcPr>
                    <a:solidFill>
                      <a:srgbClr val="F5F3EB"/>
                    </a:solidFill>
                  </a:tcPr>
                </a:tc>
                <a:extLst>
                  <a:ext uri="{0D108BD9-81ED-4DB2-BD59-A6C34878D82A}">
                    <a16:rowId xmlns:a16="http://schemas.microsoft.com/office/drawing/2014/main" val="10002"/>
                  </a:ext>
                </a:extLst>
              </a:tr>
              <a:tr h="682625">
                <a:tc>
                  <a:txBody>
                    <a:bodyPr/>
                    <a:lstStyle/>
                    <a:p>
                      <a:r>
                        <a:rPr sz="1800" b="0">
                          <a:solidFill>
                            <a:srgbClr val="1C3029"/>
                          </a:solidFill>
                        </a:rPr>
                        <a:t>Embeddings</a:t>
                      </a:r>
                    </a:p>
                  </a:txBody>
                  <a:tcPr>
                    <a:solidFill>
                      <a:srgbClr val="FFFFFF"/>
                    </a:solidFill>
                  </a:tcPr>
                </a:tc>
                <a:tc>
                  <a:txBody>
                    <a:bodyPr/>
                    <a:lstStyle/>
                    <a:p>
                      <a:r>
                        <a:rPr sz="1800" b="0">
                          <a:solidFill>
                            <a:srgbClr val="1C3029"/>
                          </a:solidFill>
                        </a:rPr>
                        <a:t>Local MiniLM, 384 dimensions</a:t>
                      </a:r>
                    </a:p>
                  </a:txBody>
                  <a:tcPr>
                    <a:solidFill>
                      <a:srgbClr val="FFFFFF"/>
                    </a:solidFill>
                  </a:tcPr>
                </a:tc>
                <a:tc>
                  <a:txBody>
                    <a:bodyPr/>
                    <a:lstStyle/>
                    <a:p>
                      <a:pPr lvl="0">
                        <a:buNone/>
                      </a:pPr>
                      <a:r>
                        <a:rPr lang="en-US" sz="1800" b="0" i="0" u="none" strike="noStrike" baseline="0" noProof="0">
                          <a:solidFill>
                            <a:srgbClr val="1C3029"/>
                          </a:solidFill>
                          <a:latin typeface="Aptos"/>
                        </a:rPr>
                        <a:t>OpenAI text-embedding-3-small</a:t>
                      </a:r>
                      <a:r>
                        <a:rPr sz="1800" b="0">
                          <a:solidFill>
                            <a:srgbClr val="1C3029"/>
                          </a:solidFill>
                        </a:rPr>
                        <a:t>, 1,536 dimensions</a:t>
                      </a:r>
                    </a:p>
                  </a:txBody>
                  <a:tcPr>
                    <a:solidFill>
                      <a:srgbClr val="FFFFFF"/>
                    </a:solidFill>
                  </a:tcPr>
                </a:tc>
                <a:extLst>
                  <a:ext uri="{0D108BD9-81ED-4DB2-BD59-A6C34878D82A}">
                    <a16:rowId xmlns:a16="http://schemas.microsoft.com/office/drawing/2014/main" val="10003"/>
                  </a:ext>
                </a:extLst>
              </a:tr>
              <a:tr h="682625">
                <a:tc>
                  <a:txBody>
                    <a:bodyPr/>
                    <a:lstStyle/>
                    <a:p>
                      <a:r>
                        <a:rPr sz="1800" b="0">
                          <a:solidFill>
                            <a:srgbClr val="1C3029"/>
                          </a:solidFill>
                        </a:rPr>
                        <a:t>Answer generation</a:t>
                      </a:r>
                    </a:p>
                  </a:txBody>
                  <a:tcPr>
                    <a:solidFill>
                      <a:srgbClr val="F5F3EB"/>
                    </a:solidFill>
                  </a:tcPr>
                </a:tc>
                <a:tc>
                  <a:txBody>
                    <a:bodyPr/>
                    <a:lstStyle/>
                    <a:p>
                      <a:r>
                        <a:rPr lang="de-DE" sz="1800" b="0">
                          <a:solidFill>
                            <a:srgbClr val="1C3029"/>
                          </a:solidFill>
                        </a:rPr>
                        <a:t>OpenAI GPT-4.1</a:t>
                      </a:r>
                      <a:r>
                        <a:rPr sz="1800" b="0">
                          <a:solidFill>
                            <a:srgbClr val="1C3029"/>
                          </a:solidFill>
                        </a:rPr>
                        <a:t> mini</a:t>
                      </a:r>
                    </a:p>
                  </a:txBody>
                  <a:tcPr>
                    <a:solidFill>
                      <a:srgbClr val="F5F3EB"/>
                    </a:solidFill>
                  </a:tcPr>
                </a:tc>
                <a:tc>
                  <a:txBody>
                    <a:bodyPr/>
                    <a:lstStyle/>
                    <a:p>
                      <a:r>
                        <a:rPr lang="de-DE" sz="1800" b="0">
                          <a:solidFill>
                            <a:srgbClr val="1C3029"/>
                          </a:solidFill>
                        </a:rPr>
                        <a:t>OpenAI GPT-6-Luna</a:t>
                      </a:r>
                      <a:r>
                        <a:rPr sz="1800" b="0">
                          <a:solidFill>
                            <a:srgbClr val="1C3029"/>
                          </a:solidFill>
                        </a:rPr>
                        <a:t>, plus claim review</a:t>
                      </a:r>
                    </a:p>
                  </a:txBody>
                  <a:tcPr>
                    <a:solidFill>
                      <a:srgbClr val="F5F3EB"/>
                    </a:solidFill>
                  </a:tcPr>
                </a:tc>
                <a:extLst>
                  <a:ext uri="{0D108BD9-81ED-4DB2-BD59-A6C34878D82A}">
                    <a16:rowId xmlns:a16="http://schemas.microsoft.com/office/drawing/2014/main" val="10004"/>
                  </a:ext>
                </a:extLst>
              </a:tr>
              <a:tr h="682625">
                <a:tc>
                  <a:txBody>
                    <a:bodyPr/>
                    <a:lstStyle/>
                    <a:p>
                      <a:r>
                        <a:rPr sz="1800" b="0">
                          <a:solidFill>
                            <a:srgbClr val="1C3029"/>
                          </a:solidFill>
                        </a:rPr>
                        <a:t>Hosting</a:t>
                      </a:r>
                    </a:p>
                  </a:txBody>
                  <a:tcPr>
                    <a:solidFill>
                      <a:srgbClr val="FFFFFF"/>
                    </a:solidFill>
                  </a:tcPr>
                </a:tc>
                <a:tc>
                  <a:txBody>
                    <a:bodyPr/>
                    <a:lstStyle/>
                    <a:p>
                      <a:r>
                        <a:rPr sz="1800" b="0">
                          <a:solidFill>
                            <a:srgbClr val="1C3029"/>
                          </a:solidFill>
                        </a:rPr>
                        <a:t>Local application</a:t>
                      </a:r>
                    </a:p>
                  </a:txBody>
                  <a:tcPr>
                    <a:solidFill>
                      <a:srgbClr val="FFFFFF"/>
                    </a:solidFill>
                  </a:tcPr>
                </a:tc>
                <a:tc>
                  <a:txBody>
                    <a:bodyPr/>
                    <a:lstStyle/>
                    <a:p>
                      <a:r>
                        <a:rPr sz="1800" b="0">
                          <a:solidFill>
                            <a:srgbClr val="1C3029"/>
                          </a:solidFill>
                        </a:rPr>
                        <a:t>Vercel, frozen read-only database</a:t>
                      </a:r>
                    </a:p>
                  </a:txBody>
                  <a:tcP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31947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37B5D4F-473F-4F35-A5A0-E30AF5AA0BEE}"/>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Ingestion and </a:t>
            </a:r>
            <a:r>
              <a:rPr lang="en-IN" sz="3300" b="1">
                <a:solidFill>
                  <a:srgbClr val="204C3B"/>
                </a:solidFill>
              </a:rPr>
              <a:t>C</a:t>
            </a:r>
            <a:r>
              <a:rPr sz="3300" b="1">
                <a:solidFill>
                  <a:srgbClr val="204C3B"/>
                </a:solidFill>
              </a:rPr>
              <a:t>hunking</a:t>
            </a:r>
          </a:p>
        </p:txBody>
      </p:sp>
      <p:sp>
        <p:nvSpPr>
          <p:cNvPr id="2" name="Rectangle 1">
            <a:extLst>
              <a:ext uri="{FF2B5EF4-FFF2-40B4-BE49-F238E27FC236}">
                <a16:creationId xmlns:a16="http://schemas.microsoft.com/office/drawing/2014/main" id="{849BCDA9-B312-48B2-B9FA-05055DE49B88}"/>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06</a:t>
            </a:r>
          </a:p>
        </p:txBody>
      </p:sp>
      <p:sp>
        <p:nvSpPr>
          <p:cNvPr id="3" name="Rectangle 2">
            <a:extLst>
              <a:ext uri="{FF2B5EF4-FFF2-40B4-BE49-F238E27FC236}">
                <a16:creationId xmlns:a16="http://schemas.microsoft.com/office/drawing/2014/main" id="{052D1309-D771-4C41-A5E6-1E0C39349FB1}"/>
              </a:ext>
            </a:extLst>
          </p:cNvPr>
          <p:cNvSpPr>
            <a:spLocks noGrp="1"/>
          </p:cNvSpPr>
          <p:nvPr/>
        </p:nvSpPr>
        <p:spPr>
          <a:xfrm>
            <a:off x="609600" y="16668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Capture and normalize</a:t>
            </a:r>
          </a:p>
        </p:txBody>
      </p:sp>
      <p:sp>
        <p:nvSpPr>
          <p:cNvPr id="4" name="Rectangle 3">
            <a:extLst>
              <a:ext uri="{FF2B5EF4-FFF2-40B4-BE49-F238E27FC236}">
                <a16:creationId xmlns:a16="http://schemas.microsoft.com/office/drawing/2014/main" id="{B6CF4FAF-7029-44AE-8357-C68C40E79A60}"/>
              </a:ext>
            </a:extLst>
          </p:cNvPr>
          <p:cNvSpPr>
            <a:spLocks noGrp="1"/>
          </p:cNvSpPr>
          <p:nvPr/>
        </p:nvSpPr>
        <p:spPr>
          <a:xfrm>
            <a:off x="4572000" y="16668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Save raw NPS pages before extracting text, headings and tables.</a:t>
            </a:r>
          </a:p>
        </p:txBody>
      </p:sp>
      <p:sp>
        <p:nvSpPr>
          <p:cNvPr id="5" name="Rectangle 4">
            <a:extLst>
              <a:ext uri="{FF2B5EF4-FFF2-40B4-BE49-F238E27FC236}">
                <a16:creationId xmlns:a16="http://schemas.microsoft.com/office/drawing/2014/main" id="{43E825CC-09A5-4834-AE4B-36FD4559899B}"/>
              </a:ext>
            </a:extLst>
          </p:cNvPr>
          <p:cNvSpPr>
            <a:spLocks noGrp="1"/>
          </p:cNvSpPr>
          <p:nvPr/>
        </p:nvSpPr>
        <p:spPr>
          <a:xfrm>
            <a:off x="609600" y="27336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Fixed baseline</a:t>
            </a:r>
          </a:p>
        </p:txBody>
      </p:sp>
      <p:sp>
        <p:nvSpPr>
          <p:cNvPr id="6" name="Rectangle 5">
            <a:extLst>
              <a:ext uri="{FF2B5EF4-FFF2-40B4-BE49-F238E27FC236}">
                <a16:creationId xmlns:a16="http://schemas.microsoft.com/office/drawing/2014/main" id="{9F47A2B0-0047-4E2D-B4EE-D88522C0B749}"/>
              </a:ext>
            </a:extLst>
          </p:cNvPr>
          <p:cNvSpPr>
            <a:spLocks noGrp="1"/>
          </p:cNvSpPr>
          <p:nvPr/>
        </p:nvSpPr>
        <p:spPr>
          <a:xfrm>
            <a:off x="4572000" y="27336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1,698 chunks using token windows and overlap</a:t>
            </a:r>
          </a:p>
        </p:txBody>
      </p:sp>
      <p:sp>
        <p:nvSpPr>
          <p:cNvPr id="7" name="Rectangle 6">
            <a:extLst>
              <a:ext uri="{FF2B5EF4-FFF2-40B4-BE49-F238E27FC236}">
                <a16:creationId xmlns:a16="http://schemas.microsoft.com/office/drawing/2014/main" id="{CA4D8738-4287-4144-BECC-93D60FF72A87}"/>
              </a:ext>
            </a:extLst>
          </p:cNvPr>
          <p:cNvSpPr>
            <a:spLocks noGrp="1"/>
          </p:cNvSpPr>
          <p:nvPr/>
        </p:nvSpPr>
        <p:spPr>
          <a:xfrm>
            <a:off x="609600" y="38004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Structure-aware build</a:t>
            </a:r>
          </a:p>
        </p:txBody>
      </p:sp>
      <p:sp>
        <p:nvSpPr>
          <p:cNvPr id="8" name="Rectangle 7">
            <a:extLst>
              <a:ext uri="{FF2B5EF4-FFF2-40B4-BE49-F238E27FC236}">
                <a16:creationId xmlns:a16="http://schemas.microsoft.com/office/drawing/2014/main" id="{6F6C0F7E-244D-4B36-AFA3-6762151794B0}"/>
              </a:ext>
            </a:extLst>
          </p:cNvPr>
          <p:cNvSpPr>
            <a:spLocks noGrp="1"/>
          </p:cNvSpPr>
          <p:nvPr/>
        </p:nvSpPr>
        <p:spPr>
          <a:xfrm>
            <a:off x="4572000" y="38004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3,707 chunks preserving heading context and table rows</a:t>
            </a:r>
          </a:p>
        </p:txBody>
      </p:sp>
      <p:sp>
        <p:nvSpPr>
          <p:cNvPr id="9" name="Rectangle 8">
            <a:extLst>
              <a:ext uri="{FF2B5EF4-FFF2-40B4-BE49-F238E27FC236}">
                <a16:creationId xmlns:a16="http://schemas.microsoft.com/office/drawing/2014/main" id="{57053D5E-7869-4804-98C5-488473755CB7}"/>
              </a:ext>
            </a:extLst>
          </p:cNvPr>
          <p:cNvSpPr>
            <a:spLocks noGrp="1"/>
          </p:cNvSpPr>
          <p:nvPr/>
        </p:nvSpPr>
        <p:spPr>
          <a:xfrm>
            <a:off x="609600" y="48672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Reproducible indexing</a:t>
            </a:r>
          </a:p>
        </p:txBody>
      </p:sp>
      <p:sp>
        <p:nvSpPr>
          <p:cNvPr id="10" name="Rectangle 9">
            <a:extLst>
              <a:ext uri="{FF2B5EF4-FFF2-40B4-BE49-F238E27FC236}">
                <a16:creationId xmlns:a16="http://schemas.microsoft.com/office/drawing/2014/main" id="{AA648CD6-EEC1-4328-B185-F9D23884D6B1}"/>
              </a:ext>
            </a:extLst>
          </p:cNvPr>
          <p:cNvSpPr>
            <a:spLocks noGrp="1"/>
          </p:cNvSpPr>
          <p:nvPr/>
        </p:nvSpPr>
        <p:spPr>
          <a:xfrm>
            <a:off x="4572000" y="48672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Deterministic IDs, source spans and atomic SQLite build activation</a:t>
            </a:r>
          </a:p>
        </p:txBody>
      </p:sp>
    </p:spTree>
    <p:extLst>
      <p:ext uri="{BB962C8B-B14F-4D97-AF65-F5344CB8AC3E}">
        <p14:creationId xmlns:p14="http://schemas.microsoft.com/office/powerpoint/2010/main" val="2144727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3258F9-CC42-49F6-80FA-80929166306D}"/>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Grounding and </a:t>
            </a:r>
            <a:r>
              <a:rPr lang="en-IN" sz="3300" b="1">
                <a:solidFill>
                  <a:srgbClr val="204C3B"/>
                </a:solidFill>
              </a:rPr>
              <a:t>S</a:t>
            </a:r>
            <a:r>
              <a:rPr sz="3300" b="1">
                <a:solidFill>
                  <a:srgbClr val="204C3B"/>
                </a:solidFill>
              </a:rPr>
              <a:t>afeguards</a:t>
            </a:r>
          </a:p>
        </p:txBody>
      </p:sp>
      <p:sp>
        <p:nvSpPr>
          <p:cNvPr id="2" name="Rectangle 1">
            <a:extLst>
              <a:ext uri="{FF2B5EF4-FFF2-40B4-BE49-F238E27FC236}">
                <a16:creationId xmlns:a16="http://schemas.microsoft.com/office/drawing/2014/main" id="{4E300233-D676-4974-8702-5162FA1B8EE1}"/>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08</a:t>
            </a:r>
          </a:p>
        </p:txBody>
      </p:sp>
      <p:sp>
        <p:nvSpPr>
          <p:cNvPr id="3" name="Rectangle 2">
            <a:extLst>
              <a:ext uri="{FF2B5EF4-FFF2-40B4-BE49-F238E27FC236}">
                <a16:creationId xmlns:a16="http://schemas.microsoft.com/office/drawing/2014/main" id="{5897B395-ACF9-43A4-A89B-A578D3EDF4F1}"/>
              </a:ext>
            </a:extLst>
          </p:cNvPr>
          <p:cNvSpPr>
            <a:spLocks noGrp="1"/>
          </p:cNvSpPr>
          <p:nvPr/>
        </p:nvSpPr>
        <p:spPr>
          <a:xfrm>
            <a:off x="609600" y="16668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Claim-level sources</a:t>
            </a:r>
          </a:p>
        </p:txBody>
      </p:sp>
      <p:sp>
        <p:nvSpPr>
          <p:cNvPr id="4" name="Rectangle 3">
            <a:extLst>
              <a:ext uri="{FF2B5EF4-FFF2-40B4-BE49-F238E27FC236}">
                <a16:creationId xmlns:a16="http://schemas.microsoft.com/office/drawing/2014/main" id="{08398A9D-7C1F-44AD-A048-2D953A280404}"/>
              </a:ext>
            </a:extLst>
          </p:cNvPr>
          <p:cNvSpPr>
            <a:spLocks noGrp="1"/>
          </p:cNvSpPr>
          <p:nvPr/>
        </p:nvSpPr>
        <p:spPr>
          <a:xfrm>
            <a:off x="4572000" y="16668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Show saved excerpts and links to the current official NPS page.</a:t>
            </a:r>
          </a:p>
        </p:txBody>
      </p:sp>
      <p:sp>
        <p:nvSpPr>
          <p:cNvPr id="5" name="Rectangle 4">
            <a:extLst>
              <a:ext uri="{FF2B5EF4-FFF2-40B4-BE49-F238E27FC236}">
                <a16:creationId xmlns:a16="http://schemas.microsoft.com/office/drawing/2014/main" id="{B5B914EA-3A8D-47C9-AA44-020B9C1538D2}"/>
              </a:ext>
            </a:extLst>
          </p:cNvPr>
          <p:cNvSpPr>
            <a:spLocks noGrp="1"/>
          </p:cNvSpPr>
          <p:nvPr/>
        </p:nvSpPr>
        <p:spPr>
          <a:xfrm>
            <a:off x="609600" y="27336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Insufficient evidence</a:t>
            </a:r>
          </a:p>
        </p:txBody>
      </p:sp>
      <p:sp>
        <p:nvSpPr>
          <p:cNvPr id="6" name="Rectangle 5">
            <a:extLst>
              <a:ext uri="{FF2B5EF4-FFF2-40B4-BE49-F238E27FC236}">
                <a16:creationId xmlns:a16="http://schemas.microsoft.com/office/drawing/2014/main" id="{90010411-FFAF-45D7-8E3B-DB1C191617AF}"/>
              </a:ext>
            </a:extLst>
          </p:cNvPr>
          <p:cNvSpPr>
            <a:spLocks noGrp="1"/>
          </p:cNvSpPr>
          <p:nvPr/>
        </p:nvSpPr>
        <p:spPr>
          <a:xfrm>
            <a:off x="4572000" y="27336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Refuse unsupported answers or ask for missing context.</a:t>
            </a:r>
          </a:p>
        </p:txBody>
      </p:sp>
      <p:sp>
        <p:nvSpPr>
          <p:cNvPr id="7" name="Rectangle 6">
            <a:extLst>
              <a:ext uri="{FF2B5EF4-FFF2-40B4-BE49-F238E27FC236}">
                <a16:creationId xmlns:a16="http://schemas.microsoft.com/office/drawing/2014/main" id="{3239109A-A3BB-489B-8E1F-758CE4A57892}"/>
              </a:ext>
            </a:extLst>
          </p:cNvPr>
          <p:cNvSpPr>
            <a:spLocks noGrp="1"/>
          </p:cNvSpPr>
          <p:nvPr/>
        </p:nvSpPr>
        <p:spPr>
          <a:xfrm>
            <a:off x="609600" y="38004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Time-sensitive questions</a:t>
            </a:r>
          </a:p>
        </p:txBody>
      </p:sp>
      <p:sp>
        <p:nvSpPr>
          <p:cNvPr id="8" name="Rectangle 7">
            <a:extLst>
              <a:ext uri="{FF2B5EF4-FFF2-40B4-BE49-F238E27FC236}">
                <a16:creationId xmlns:a16="http://schemas.microsoft.com/office/drawing/2014/main" id="{0608FA8F-A970-4ADC-A68B-2927E7779868}"/>
              </a:ext>
            </a:extLst>
          </p:cNvPr>
          <p:cNvSpPr>
            <a:spLocks noGrp="1"/>
          </p:cNvSpPr>
          <p:nvPr/>
        </p:nvSpPr>
        <p:spPr>
          <a:xfrm>
            <a:off x="4572000" y="38004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Explain snapshot limits for current roads, closures or availability.</a:t>
            </a:r>
          </a:p>
        </p:txBody>
      </p:sp>
      <p:sp>
        <p:nvSpPr>
          <p:cNvPr id="9" name="Rectangle 8">
            <a:extLst>
              <a:ext uri="{FF2B5EF4-FFF2-40B4-BE49-F238E27FC236}">
                <a16:creationId xmlns:a16="http://schemas.microsoft.com/office/drawing/2014/main" id="{9ACD8B35-1FFD-4BBE-B53B-1389ADABAC64}"/>
              </a:ext>
            </a:extLst>
          </p:cNvPr>
          <p:cNvSpPr>
            <a:spLocks noGrp="1"/>
          </p:cNvSpPr>
          <p:nvPr/>
        </p:nvSpPr>
        <p:spPr>
          <a:xfrm>
            <a:off x="609600" y="48672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Privacy and reliability</a:t>
            </a:r>
          </a:p>
        </p:txBody>
      </p:sp>
      <p:sp>
        <p:nvSpPr>
          <p:cNvPr id="10" name="Rectangle 9">
            <a:extLst>
              <a:ext uri="{FF2B5EF4-FFF2-40B4-BE49-F238E27FC236}">
                <a16:creationId xmlns:a16="http://schemas.microsoft.com/office/drawing/2014/main" id="{20687FBE-B974-430A-8400-AFEBE2609A77}"/>
              </a:ext>
            </a:extLst>
          </p:cNvPr>
          <p:cNvSpPr>
            <a:spLocks noGrp="1"/>
          </p:cNvSpPr>
          <p:nvPr/>
        </p:nvSpPr>
        <p:spPr>
          <a:xfrm>
            <a:off x="4572000" y="48672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Keep keys on the server and disclose Azure processing. AI review can still make errors.</a:t>
            </a:r>
          </a:p>
        </p:txBody>
      </p:sp>
    </p:spTree>
    <p:extLst>
      <p:ext uri="{BB962C8B-B14F-4D97-AF65-F5344CB8AC3E}">
        <p14:creationId xmlns:p14="http://schemas.microsoft.com/office/powerpoint/2010/main" val="2143758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089B355-9C50-432A-B278-397169477E0A}"/>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Question-to-</a:t>
            </a:r>
            <a:r>
              <a:rPr lang="en-IN" sz="3300" b="1">
                <a:solidFill>
                  <a:srgbClr val="204C3B"/>
                </a:solidFill>
              </a:rPr>
              <a:t>A</a:t>
            </a:r>
            <a:r>
              <a:rPr sz="3300" b="1" err="1">
                <a:solidFill>
                  <a:srgbClr val="204C3B"/>
                </a:solidFill>
              </a:rPr>
              <a:t>nswer</a:t>
            </a:r>
            <a:r>
              <a:rPr sz="3300" b="1">
                <a:solidFill>
                  <a:srgbClr val="204C3B"/>
                </a:solidFill>
              </a:rPr>
              <a:t> </a:t>
            </a:r>
            <a:r>
              <a:rPr lang="en-IN" sz="3300" b="1">
                <a:solidFill>
                  <a:srgbClr val="204C3B"/>
                </a:solidFill>
              </a:rPr>
              <a:t>P</a:t>
            </a:r>
            <a:r>
              <a:rPr sz="3300" b="1">
                <a:solidFill>
                  <a:srgbClr val="204C3B"/>
                </a:solidFill>
              </a:rPr>
              <a:t>ipeline</a:t>
            </a:r>
          </a:p>
        </p:txBody>
      </p:sp>
      <p:sp>
        <p:nvSpPr>
          <p:cNvPr id="2" name="Rectangle 1">
            <a:extLst>
              <a:ext uri="{FF2B5EF4-FFF2-40B4-BE49-F238E27FC236}">
                <a16:creationId xmlns:a16="http://schemas.microsoft.com/office/drawing/2014/main" id="{5E468FB9-0C2E-4246-802E-51EA7899D46D}"/>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07</a:t>
            </a:r>
          </a:p>
        </p:txBody>
      </p:sp>
      <p:sp>
        <p:nvSpPr>
          <p:cNvPr id="3" name="Rectangle 2">
            <a:extLst>
              <a:ext uri="{FF2B5EF4-FFF2-40B4-BE49-F238E27FC236}">
                <a16:creationId xmlns:a16="http://schemas.microsoft.com/office/drawing/2014/main" id="{E1E97AAA-866D-4E52-A80D-332A4EBFD85E}"/>
              </a:ext>
            </a:extLst>
          </p:cNvPr>
          <p:cNvSpPr>
            <a:spLocks noGrp="1"/>
          </p:cNvSpPr>
          <p:nvPr/>
        </p:nvSpPr>
        <p:spPr>
          <a:xfrm>
            <a:off x="609600" y="16668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01  Scope and context</a:t>
            </a:r>
          </a:p>
        </p:txBody>
      </p:sp>
      <p:sp>
        <p:nvSpPr>
          <p:cNvPr id="4" name="Rectangle 3">
            <a:extLst>
              <a:ext uri="{FF2B5EF4-FFF2-40B4-BE49-F238E27FC236}">
                <a16:creationId xmlns:a16="http://schemas.microsoft.com/office/drawing/2014/main" id="{FFE4FEDF-A813-406C-9274-0086ACF3E4F4}"/>
              </a:ext>
            </a:extLst>
          </p:cNvPr>
          <p:cNvSpPr>
            <a:spLocks noGrp="1"/>
          </p:cNvSpPr>
          <p:nvPr/>
        </p:nvSpPr>
        <p:spPr>
          <a:xfrm>
            <a:off x="4572000" y="16668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Validate the selected park and resolve the follow-up subject.</a:t>
            </a:r>
          </a:p>
        </p:txBody>
      </p:sp>
      <p:sp>
        <p:nvSpPr>
          <p:cNvPr id="5" name="Rectangle 4">
            <a:extLst>
              <a:ext uri="{FF2B5EF4-FFF2-40B4-BE49-F238E27FC236}">
                <a16:creationId xmlns:a16="http://schemas.microsoft.com/office/drawing/2014/main" id="{DE4E8ED0-4FD7-4559-9265-BC4A23ABBF82}"/>
              </a:ext>
            </a:extLst>
          </p:cNvPr>
          <p:cNvSpPr>
            <a:spLocks noGrp="1"/>
          </p:cNvSpPr>
          <p:nvPr/>
        </p:nvSpPr>
        <p:spPr>
          <a:xfrm>
            <a:off x="609600" y="27336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02  Hybrid retrieval</a:t>
            </a:r>
          </a:p>
        </p:txBody>
      </p:sp>
      <p:sp>
        <p:nvSpPr>
          <p:cNvPr id="6" name="Rectangle 5">
            <a:extLst>
              <a:ext uri="{FF2B5EF4-FFF2-40B4-BE49-F238E27FC236}">
                <a16:creationId xmlns:a16="http://schemas.microsoft.com/office/drawing/2014/main" id="{B0B95610-46DA-41A1-89FB-34F2BDF32384}"/>
              </a:ext>
            </a:extLst>
          </p:cNvPr>
          <p:cNvSpPr>
            <a:spLocks noGrp="1"/>
          </p:cNvSpPr>
          <p:nvPr/>
        </p:nvSpPr>
        <p:spPr>
          <a:xfrm>
            <a:off x="4572000" y="27336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Combine dense cosine search with BM25 using reciprocal rank fusion.</a:t>
            </a:r>
          </a:p>
        </p:txBody>
      </p:sp>
      <p:sp>
        <p:nvSpPr>
          <p:cNvPr id="7" name="Rectangle 6">
            <a:extLst>
              <a:ext uri="{FF2B5EF4-FFF2-40B4-BE49-F238E27FC236}">
                <a16:creationId xmlns:a16="http://schemas.microsoft.com/office/drawing/2014/main" id="{688A64A6-6BA1-4726-B7C3-654BEC8E5081}"/>
              </a:ext>
            </a:extLst>
          </p:cNvPr>
          <p:cNvSpPr>
            <a:spLocks noGrp="1"/>
          </p:cNvSpPr>
          <p:nvPr/>
        </p:nvSpPr>
        <p:spPr>
          <a:xfrm>
            <a:off x="609600" y="38004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03  Evidence selection</a:t>
            </a:r>
          </a:p>
        </p:txBody>
      </p:sp>
      <p:sp>
        <p:nvSpPr>
          <p:cNvPr id="8" name="Rectangle 7">
            <a:extLst>
              <a:ext uri="{FF2B5EF4-FFF2-40B4-BE49-F238E27FC236}">
                <a16:creationId xmlns:a16="http://schemas.microsoft.com/office/drawing/2014/main" id="{372C946E-B011-4A50-A1DC-F00556E65E34}"/>
              </a:ext>
            </a:extLst>
          </p:cNvPr>
          <p:cNvSpPr>
            <a:spLocks noGrp="1"/>
          </p:cNvSpPr>
          <p:nvPr/>
        </p:nvSpPr>
        <p:spPr>
          <a:xfrm>
            <a:off x="4572000" y="38004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Keep 20 candidates, then up to five passages. Local UI adds reranking.</a:t>
            </a:r>
          </a:p>
        </p:txBody>
      </p:sp>
      <p:sp>
        <p:nvSpPr>
          <p:cNvPr id="9" name="Rectangle 8">
            <a:extLst>
              <a:ext uri="{FF2B5EF4-FFF2-40B4-BE49-F238E27FC236}">
                <a16:creationId xmlns:a16="http://schemas.microsoft.com/office/drawing/2014/main" id="{EA049A04-913A-41D5-96E0-9BFA8F53AF71}"/>
              </a:ext>
            </a:extLst>
          </p:cNvPr>
          <p:cNvSpPr>
            <a:spLocks noGrp="1"/>
          </p:cNvSpPr>
          <p:nvPr/>
        </p:nvSpPr>
        <p:spPr>
          <a:xfrm>
            <a:off x="609600" y="48672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04  Generation and review</a:t>
            </a:r>
          </a:p>
        </p:txBody>
      </p:sp>
      <p:sp>
        <p:nvSpPr>
          <p:cNvPr id="10" name="Rectangle 9">
            <a:extLst>
              <a:ext uri="{FF2B5EF4-FFF2-40B4-BE49-F238E27FC236}">
                <a16:creationId xmlns:a16="http://schemas.microsoft.com/office/drawing/2014/main" id="{1F573A22-C1E1-4BBA-8D3A-D39C0601C3CD}"/>
              </a:ext>
            </a:extLst>
          </p:cNvPr>
          <p:cNvSpPr>
            <a:spLocks noGrp="1"/>
          </p:cNvSpPr>
          <p:nvPr/>
        </p:nvSpPr>
        <p:spPr>
          <a:xfrm>
            <a:off x="4572000" y="48672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Draft cited claims, review their source support, then return the answer.</a:t>
            </a:r>
          </a:p>
        </p:txBody>
      </p:sp>
    </p:spTree>
    <p:extLst>
      <p:ext uri="{BB962C8B-B14F-4D97-AF65-F5344CB8AC3E}">
        <p14:creationId xmlns:p14="http://schemas.microsoft.com/office/powerpoint/2010/main" val="594047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FBE5977-09BC-4E95-97F3-4234D1FD28D6}"/>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Official NPS </a:t>
            </a:r>
            <a:r>
              <a:rPr lang="en-IN" sz="3300" b="1">
                <a:solidFill>
                  <a:srgbClr val="204C3B"/>
                </a:solidFill>
              </a:rPr>
              <a:t>C</a:t>
            </a:r>
            <a:r>
              <a:rPr sz="3300" b="1">
                <a:solidFill>
                  <a:srgbClr val="204C3B"/>
                </a:solidFill>
              </a:rPr>
              <a:t>orpus</a:t>
            </a:r>
          </a:p>
        </p:txBody>
      </p:sp>
      <p:sp>
        <p:nvSpPr>
          <p:cNvPr id="2" name="Rectangle 1">
            <a:extLst>
              <a:ext uri="{FF2B5EF4-FFF2-40B4-BE49-F238E27FC236}">
                <a16:creationId xmlns:a16="http://schemas.microsoft.com/office/drawing/2014/main" id="{340A4B11-6907-46B8-9595-15428CA35411}"/>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05</a:t>
            </a:r>
          </a:p>
        </p:txBody>
      </p:sp>
      <p:sp>
        <p:nvSpPr>
          <p:cNvPr id="3" name="Rectangle 2">
            <a:extLst>
              <a:ext uri="{FF2B5EF4-FFF2-40B4-BE49-F238E27FC236}">
                <a16:creationId xmlns:a16="http://schemas.microsoft.com/office/drawing/2014/main" id="{BD0C9379-8C25-465E-87D0-049B180F7992}"/>
              </a:ext>
            </a:extLst>
          </p:cNvPr>
          <p:cNvSpPr>
            <a:spLocks noGrp="1"/>
          </p:cNvSpPr>
          <p:nvPr/>
        </p:nvSpPr>
        <p:spPr>
          <a:xfrm>
            <a:off x="609600" y="1952625"/>
            <a:ext cx="2381250" cy="1047750"/>
          </a:xfrm>
          <a:prstGeom prst="rect">
            <a:avLst/>
          </a:prstGeom>
          <a:noFill/>
          <a:ln w="0">
            <a:noFill/>
          </a:ln>
        </p:spPr>
        <p:txBody>
          <a:bodyPr/>
          <a:lstStyle>
            <a:defPPr>
              <a:defRPr sz="5700" b="1">
                <a:solidFill>
                  <a:srgbClr val="204C3B"/>
                </a:solidFill>
              </a:defRPr>
            </a:defPPr>
          </a:lstStyle>
          <a:p>
            <a:pPr>
              <a:defRPr sz="5700" b="1">
                <a:solidFill>
                  <a:srgbClr val="204C3B"/>
                </a:solidFill>
              </a:defRPr>
            </a:pPr>
            <a:r>
              <a:rPr sz="5700" b="1">
                <a:solidFill>
                  <a:srgbClr val="204C3B"/>
                </a:solidFill>
              </a:rPr>
              <a:t>155</a:t>
            </a:r>
          </a:p>
        </p:txBody>
      </p:sp>
      <p:sp>
        <p:nvSpPr>
          <p:cNvPr id="4" name="Rectangle 3">
            <a:extLst>
              <a:ext uri="{FF2B5EF4-FFF2-40B4-BE49-F238E27FC236}">
                <a16:creationId xmlns:a16="http://schemas.microsoft.com/office/drawing/2014/main" id="{1CACB539-6EEE-4AD1-9DB9-DE144CAD4823}"/>
              </a:ext>
            </a:extLst>
          </p:cNvPr>
          <p:cNvSpPr>
            <a:spLocks noGrp="1"/>
          </p:cNvSpPr>
          <p:nvPr/>
        </p:nvSpPr>
        <p:spPr>
          <a:xfrm>
            <a:off x="609600" y="3095625"/>
            <a:ext cx="2381250" cy="952500"/>
          </a:xfrm>
          <a:prstGeom prst="rect">
            <a:avLst/>
          </a:prstGeom>
          <a:noFill/>
          <a:ln w="0">
            <a:noFill/>
          </a:ln>
        </p:spPr>
        <p:txBody>
          <a:bodyPr/>
          <a:lstStyle>
            <a:defPPr>
              <a:defRPr sz="2100" b="0">
                <a:solidFill>
                  <a:srgbClr val="1C3029"/>
                </a:solidFill>
              </a:defRPr>
            </a:defPPr>
          </a:lstStyle>
          <a:p>
            <a:pPr>
              <a:defRPr sz="2100" b="0">
                <a:solidFill>
                  <a:srgbClr val="1C3029"/>
                </a:solidFill>
              </a:defRPr>
            </a:pPr>
            <a:r>
              <a:rPr sz="2100" b="0">
                <a:solidFill>
                  <a:srgbClr val="1C3029"/>
                </a:solidFill>
              </a:rPr>
              <a:t>saved documents</a:t>
            </a:r>
          </a:p>
        </p:txBody>
      </p:sp>
      <p:sp>
        <p:nvSpPr>
          <p:cNvPr id="5" name="Rectangle 4">
            <a:extLst>
              <a:ext uri="{FF2B5EF4-FFF2-40B4-BE49-F238E27FC236}">
                <a16:creationId xmlns:a16="http://schemas.microsoft.com/office/drawing/2014/main" id="{DD5E55AE-84A4-424A-8AAD-EF3691608596}"/>
              </a:ext>
            </a:extLst>
          </p:cNvPr>
          <p:cNvSpPr>
            <a:spLocks noGrp="1"/>
          </p:cNvSpPr>
          <p:nvPr/>
        </p:nvSpPr>
        <p:spPr>
          <a:xfrm>
            <a:off x="3467100" y="1952625"/>
            <a:ext cx="2381250" cy="1047750"/>
          </a:xfrm>
          <a:prstGeom prst="rect">
            <a:avLst/>
          </a:prstGeom>
          <a:noFill/>
          <a:ln w="0">
            <a:noFill/>
          </a:ln>
        </p:spPr>
        <p:txBody>
          <a:bodyPr/>
          <a:lstStyle>
            <a:defPPr>
              <a:defRPr sz="5700" b="1">
                <a:solidFill>
                  <a:srgbClr val="204C3B"/>
                </a:solidFill>
              </a:defRPr>
            </a:defPPr>
          </a:lstStyle>
          <a:p>
            <a:pPr>
              <a:defRPr sz="5700" b="1">
                <a:solidFill>
                  <a:srgbClr val="204C3B"/>
                </a:solidFill>
              </a:defRPr>
            </a:pPr>
            <a:r>
              <a:rPr sz="5700" b="1">
                <a:solidFill>
                  <a:srgbClr val="204C3B"/>
                </a:solidFill>
              </a:rPr>
              <a:t>150</a:t>
            </a:r>
          </a:p>
        </p:txBody>
      </p:sp>
      <p:sp>
        <p:nvSpPr>
          <p:cNvPr id="6" name="Rectangle 5">
            <a:extLst>
              <a:ext uri="{FF2B5EF4-FFF2-40B4-BE49-F238E27FC236}">
                <a16:creationId xmlns:a16="http://schemas.microsoft.com/office/drawing/2014/main" id="{ADE5B441-BF08-47FB-8391-21FE67FD3C5E}"/>
              </a:ext>
            </a:extLst>
          </p:cNvPr>
          <p:cNvSpPr>
            <a:spLocks noGrp="1"/>
          </p:cNvSpPr>
          <p:nvPr/>
        </p:nvSpPr>
        <p:spPr>
          <a:xfrm>
            <a:off x="3467100" y="3095625"/>
            <a:ext cx="2381250" cy="952500"/>
          </a:xfrm>
          <a:prstGeom prst="rect">
            <a:avLst/>
          </a:prstGeom>
          <a:noFill/>
          <a:ln w="0">
            <a:noFill/>
          </a:ln>
        </p:spPr>
        <p:txBody>
          <a:bodyPr/>
          <a:lstStyle>
            <a:defPPr>
              <a:defRPr sz="2100" b="0">
                <a:solidFill>
                  <a:srgbClr val="1C3029"/>
                </a:solidFill>
              </a:defRPr>
            </a:defPPr>
          </a:lstStyle>
          <a:p>
            <a:pPr>
              <a:defRPr sz="2100" b="0">
                <a:solidFill>
                  <a:srgbClr val="1C3029"/>
                </a:solidFill>
              </a:defRPr>
            </a:pPr>
            <a:r>
              <a:rPr sz="2100" b="0">
                <a:solidFill>
                  <a:srgbClr val="1C3029"/>
                </a:solidFill>
              </a:rPr>
              <a:t>HTML pages</a:t>
            </a:r>
          </a:p>
        </p:txBody>
      </p:sp>
      <p:sp>
        <p:nvSpPr>
          <p:cNvPr id="7" name="Rectangle 6">
            <a:extLst>
              <a:ext uri="{FF2B5EF4-FFF2-40B4-BE49-F238E27FC236}">
                <a16:creationId xmlns:a16="http://schemas.microsoft.com/office/drawing/2014/main" id="{F5DF439C-5AE5-43AE-A9E1-07338243BE23}"/>
              </a:ext>
            </a:extLst>
          </p:cNvPr>
          <p:cNvSpPr>
            <a:spLocks noGrp="1"/>
          </p:cNvSpPr>
          <p:nvPr/>
        </p:nvSpPr>
        <p:spPr>
          <a:xfrm>
            <a:off x="6324600" y="1952625"/>
            <a:ext cx="2381250" cy="1047750"/>
          </a:xfrm>
          <a:prstGeom prst="rect">
            <a:avLst/>
          </a:prstGeom>
          <a:noFill/>
          <a:ln w="0">
            <a:noFill/>
          </a:ln>
        </p:spPr>
        <p:txBody>
          <a:bodyPr/>
          <a:lstStyle>
            <a:defPPr>
              <a:defRPr sz="5700" b="1">
                <a:solidFill>
                  <a:srgbClr val="204C3B"/>
                </a:solidFill>
              </a:defRPr>
            </a:defPPr>
          </a:lstStyle>
          <a:p>
            <a:pPr>
              <a:defRPr sz="5700" b="1">
                <a:solidFill>
                  <a:srgbClr val="204C3B"/>
                </a:solidFill>
              </a:defRPr>
            </a:pPr>
            <a:r>
              <a:rPr sz="5700" b="1">
                <a:solidFill>
                  <a:srgbClr val="204C3B"/>
                </a:solidFill>
              </a:rPr>
              <a:t>5</a:t>
            </a:r>
          </a:p>
        </p:txBody>
      </p:sp>
      <p:sp>
        <p:nvSpPr>
          <p:cNvPr id="8" name="Rectangle 7">
            <a:extLst>
              <a:ext uri="{FF2B5EF4-FFF2-40B4-BE49-F238E27FC236}">
                <a16:creationId xmlns:a16="http://schemas.microsoft.com/office/drawing/2014/main" id="{CD42AABF-A4DC-4FF5-AD8A-B4D435C28AAF}"/>
              </a:ext>
            </a:extLst>
          </p:cNvPr>
          <p:cNvSpPr>
            <a:spLocks noGrp="1"/>
          </p:cNvSpPr>
          <p:nvPr/>
        </p:nvSpPr>
        <p:spPr>
          <a:xfrm>
            <a:off x="6324600" y="3095625"/>
            <a:ext cx="2381250" cy="952500"/>
          </a:xfrm>
          <a:prstGeom prst="rect">
            <a:avLst/>
          </a:prstGeom>
          <a:noFill/>
          <a:ln w="0">
            <a:noFill/>
          </a:ln>
        </p:spPr>
        <p:txBody>
          <a:bodyPr/>
          <a:lstStyle>
            <a:defPPr>
              <a:defRPr sz="2100" b="0">
                <a:solidFill>
                  <a:srgbClr val="1C3029"/>
                </a:solidFill>
              </a:defRPr>
            </a:defPPr>
          </a:lstStyle>
          <a:p>
            <a:pPr>
              <a:defRPr sz="2100" b="0">
                <a:solidFill>
                  <a:srgbClr val="1C3029"/>
                </a:solidFill>
              </a:defRPr>
            </a:pPr>
            <a:r>
              <a:rPr sz="2100" b="0">
                <a:solidFill>
                  <a:srgbClr val="1C3029"/>
                </a:solidFill>
              </a:rPr>
              <a:t>PDFs</a:t>
            </a:r>
          </a:p>
        </p:txBody>
      </p:sp>
      <p:sp>
        <p:nvSpPr>
          <p:cNvPr id="9" name="Rectangle 8">
            <a:extLst>
              <a:ext uri="{FF2B5EF4-FFF2-40B4-BE49-F238E27FC236}">
                <a16:creationId xmlns:a16="http://schemas.microsoft.com/office/drawing/2014/main" id="{185D7EA7-337E-45F6-B86B-CFAE721B57AF}"/>
              </a:ext>
            </a:extLst>
          </p:cNvPr>
          <p:cNvSpPr>
            <a:spLocks noGrp="1"/>
          </p:cNvSpPr>
          <p:nvPr/>
        </p:nvSpPr>
        <p:spPr>
          <a:xfrm>
            <a:off x="9182100" y="1952625"/>
            <a:ext cx="2381250" cy="1047750"/>
          </a:xfrm>
          <a:prstGeom prst="rect">
            <a:avLst/>
          </a:prstGeom>
          <a:noFill/>
          <a:ln w="0">
            <a:noFill/>
          </a:ln>
        </p:spPr>
        <p:txBody>
          <a:bodyPr/>
          <a:lstStyle>
            <a:defPPr>
              <a:defRPr sz="5700" b="1">
                <a:solidFill>
                  <a:srgbClr val="204C3B"/>
                </a:solidFill>
              </a:defRPr>
            </a:defPPr>
          </a:lstStyle>
          <a:p>
            <a:pPr>
              <a:defRPr sz="5700" b="1">
                <a:solidFill>
                  <a:srgbClr val="204C3B"/>
                </a:solidFill>
              </a:defRPr>
            </a:pPr>
            <a:r>
              <a:rPr sz="5700" b="1">
                <a:solidFill>
                  <a:srgbClr val="204C3B"/>
                </a:solidFill>
              </a:rPr>
              <a:t>45</a:t>
            </a:r>
          </a:p>
        </p:txBody>
      </p:sp>
      <p:sp>
        <p:nvSpPr>
          <p:cNvPr id="10" name="Rectangle 9">
            <a:extLst>
              <a:ext uri="{FF2B5EF4-FFF2-40B4-BE49-F238E27FC236}">
                <a16:creationId xmlns:a16="http://schemas.microsoft.com/office/drawing/2014/main" id="{49EDADE6-EB7D-40CD-A10D-950A384D450B}"/>
              </a:ext>
            </a:extLst>
          </p:cNvPr>
          <p:cNvSpPr>
            <a:spLocks noGrp="1"/>
          </p:cNvSpPr>
          <p:nvPr/>
        </p:nvSpPr>
        <p:spPr>
          <a:xfrm>
            <a:off x="9182100" y="3095625"/>
            <a:ext cx="2381250" cy="952500"/>
          </a:xfrm>
          <a:prstGeom prst="rect">
            <a:avLst/>
          </a:prstGeom>
          <a:noFill/>
          <a:ln w="0">
            <a:noFill/>
          </a:ln>
        </p:spPr>
        <p:txBody>
          <a:bodyPr/>
          <a:lstStyle>
            <a:defPPr>
              <a:defRPr sz="2100" b="0">
                <a:solidFill>
                  <a:srgbClr val="1C3029"/>
                </a:solidFill>
              </a:defRPr>
            </a:defPPr>
          </a:lstStyle>
          <a:p>
            <a:pPr>
              <a:defRPr sz="2100" b="0">
                <a:solidFill>
                  <a:srgbClr val="1C3029"/>
                </a:solidFill>
              </a:defRPr>
            </a:pPr>
            <a:r>
              <a:rPr sz="2100" b="0">
                <a:solidFill>
                  <a:srgbClr val="1C3029"/>
                </a:solidFill>
              </a:rPr>
              <a:t>documents with tables</a:t>
            </a:r>
          </a:p>
        </p:txBody>
      </p:sp>
      <p:sp>
        <p:nvSpPr>
          <p:cNvPr id="11" name="Rectangle 10">
            <a:extLst>
              <a:ext uri="{FF2B5EF4-FFF2-40B4-BE49-F238E27FC236}">
                <a16:creationId xmlns:a16="http://schemas.microsoft.com/office/drawing/2014/main" id="{C5B896FA-1838-4662-BF21-E7EFA85AA9DB}"/>
              </a:ext>
            </a:extLst>
          </p:cNvPr>
          <p:cNvSpPr>
            <a:spLocks noGrp="1"/>
          </p:cNvSpPr>
          <p:nvPr/>
        </p:nvSpPr>
        <p:spPr>
          <a:xfrm>
            <a:off x="609600" y="4695825"/>
            <a:ext cx="10572750" cy="1047750"/>
          </a:xfrm>
          <a:prstGeom prst="rect">
            <a:avLst/>
          </a:prstGeom>
          <a:noFill/>
          <a:ln w="0">
            <a:noFill/>
          </a:ln>
        </p:spPr>
        <p:txBody>
          <a:bodyPr/>
          <a:lstStyle>
            <a:defPPr>
              <a:defRPr sz="2250" b="0">
                <a:solidFill>
                  <a:srgbClr val="1C3029"/>
                </a:solidFill>
              </a:defRPr>
            </a:defPPr>
          </a:lstStyle>
          <a:p>
            <a:pPr>
              <a:defRPr sz="2250" b="0">
                <a:solidFill>
                  <a:srgbClr val="1C3029"/>
                </a:solidFill>
              </a:defRPr>
            </a:pPr>
            <a:r>
              <a:rPr sz="2250" b="0">
                <a:solidFill>
                  <a:srgbClr val="1C3029"/>
                </a:solidFill>
              </a:rPr>
              <a:t>Public visitor information from the three parks</a:t>
            </a:r>
          </a:p>
          <a:p>
            <a:pPr>
              <a:defRPr sz="2250" b="0">
                <a:solidFill>
                  <a:srgbClr val="1C3029"/>
                </a:solidFill>
              </a:defRPr>
            </a:pPr>
            <a:r>
              <a:rPr sz="2250" b="0">
                <a:solidFill>
                  <a:srgbClr val="1C3029"/>
                </a:solidFill>
              </a:rPr>
              <a:t>Raw files, source URLs, capture dates and content hashes retained</a:t>
            </a:r>
          </a:p>
        </p:txBody>
      </p:sp>
    </p:spTree>
    <p:extLst>
      <p:ext uri="{BB962C8B-B14F-4D97-AF65-F5344CB8AC3E}">
        <p14:creationId xmlns:p14="http://schemas.microsoft.com/office/powerpoint/2010/main" val="442595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E1B145-702F-49ED-BC1F-EC93802ECA7F}"/>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Initial </a:t>
            </a:r>
            <a:r>
              <a:rPr lang="en-IN" sz="3300" b="1">
                <a:solidFill>
                  <a:srgbClr val="204C3B"/>
                </a:solidFill>
              </a:rPr>
              <a:t>R</a:t>
            </a:r>
            <a:r>
              <a:rPr sz="3300" b="1" err="1">
                <a:solidFill>
                  <a:srgbClr val="204C3B"/>
                </a:solidFill>
              </a:rPr>
              <a:t>etrieval</a:t>
            </a:r>
            <a:r>
              <a:rPr sz="3300" b="1">
                <a:solidFill>
                  <a:srgbClr val="204C3B"/>
                </a:solidFill>
              </a:rPr>
              <a:t> </a:t>
            </a:r>
            <a:r>
              <a:rPr lang="en-IN" sz="3300" b="1">
                <a:solidFill>
                  <a:srgbClr val="204C3B"/>
                </a:solidFill>
              </a:rPr>
              <a:t>E</a:t>
            </a:r>
            <a:r>
              <a:rPr sz="3300" b="1">
                <a:solidFill>
                  <a:srgbClr val="204C3B"/>
                </a:solidFill>
              </a:rPr>
              <a:t>xperiment</a:t>
            </a:r>
          </a:p>
        </p:txBody>
      </p:sp>
      <p:sp>
        <p:nvSpPr>
          <p:cNvPr id="2" name="Rectangle 1">
            <a:extLst>
              <a:ext uri="{FF2B5EF4-FFF2-40B4-BE49-F238E27FC236}">
                <a16:creationId xmlns:a16="http://schemas.microsoft.com/office/drawing/2014/main" id="{3E28A53C-09AB-4311-9304-121751269563}"/>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11</a:t>
            </a:r>
          </a:p>
        </p:txBody>
      </p:sp>
      <p:graphicFrame>
        <p:nvGraphicFramePr>
          <p:cNvPr id="3" name="Table 2">
            <a:extLst>
              <a:ext uri="{FF2B5EF4-FFF2-40B4-BE49-F238E27FC236}">
                <a16:creationId xmlns:a16="http://schemas.microsoft.com/office/drawing/2014/main" id="{FF96104E-3505-4D52-9914-3005679DD5F4}"/>
              </a:ext>
            </a:extLst>
          </p:cNvPr>
          <p:cNvGraphicFramePr/>
          <p:nvPr/>
        </p:nvGraphicFramePr>
        <p:xfrm>
          <a:off x="609600" y="1476375"/>
          <a:ext cx="10972800" cy="3476628"/>
        </p:xfrm>
        <a:graphic>
          <a:graphicData uri="http://schemas.openxmlformats.org/drawingml/2006/table">
            <a:tbl>
              <a:tblPr/>
              <a:tblGrid>
                <a:gridCol w="409575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2495550">
                  <a:extLst>
                    <a:ext uri="{9D8B030D-6E8A-4147-A177-3AD203B41FA5}">
                      <a16:colId xmlns:a16="http://schemas.microsoft.com/office/drawing/2014/main" val="20002"/>
                    </a:ext>
                  </a:extLst>
                </a:gridCol>
              </a:tblGrid>
              <a:tr h="579438">
                <a:tc>
                  <a:txBody>
                    <a:bodyPr/>
                    <a:lstStyle/>
                    <a:p>
                      <a:r>
                        <a:rPr sz="1800" b="1">
                          <a:solidFill>
                            <a:srgbClr val="FFFFFF"/>
                          </a:solidFill>
                        </a:rPr>
                        <a:t>Retrieval variant</a:t>
                      </a:r>
                    </a:p>
                  </a:txBody>
                  <a:tcPr>
                    <a:solidFill>
                      <a:srgbClr val="204C3B"/>
                    </a:solidFill>
                  </a:tcPr>
                </a:tc>
                <a:tc>
                  <a:txBody>
                    <a:bodyPr/>
                    <a:lstStyle/>
                    <a:p>
                      <a:r>
                        <a:rPr sz="1800" b="1">
                          <a:solidFill>
                            <a:srgbClr val="FFFFFF"/>
                          </a:solidFill>
                        </a:rPr>
                        <a:t>Chunking</a:t>
                      </a:r>
                    </a:p>
                  </a:txBody>
                  <a:tcPr>
                    <a:solidFill>
                      <a:srgbClr val="204C3B"/>
                    </a:solidFill>
                  </a:tcPr>
                </a:tc>
                <a:tc>
                  <a:txBody>
                    <a:bodyPr/>
                    <a:lstStyle/>
                    <a:p>
                      <a:r>
                        <a:rPr sz="1800" b="1">
                          <a:solidFill>
                            <a:srgbClr val="FFFFFF"/>
                          </a:solidFill>
                        </a:rPr>
                        <a:t>MRR</a:t>
                      </a:r>
                    </a:p>
                  </a:txBody>
                  <a:tcPr>
                    <a:solidFill>
                      <a:srgbClr val="204C3B"/>
                    </a:solidFill>
                  </a:tcPr>
                </a:tc>
                <a:extLst>
                  <a:ext uri="{0D108BD9-81ED-4DB2-BD59-A6C34878D82A}">
                    <a16:rowId xmlns:a16="http://schemas.microsoft.com/office/drawing/2014/main" val="10000"/>
                  </a:ext>
                </a:extLst>
              </a:tr>
              <a:tr h="579438">
                <a:tc>
                  <a:txBody>
                    <a:bodyPr/>
                    <a:lstStyle/>
                    <a:p>
                      <a:r>
                        <a:rPr sz="1800" b="0">
                          <a:solidFill>
                            <a:srgbClr val="1C3029"/>
                          </a:solidFill>
                        </a:rPr>
                        <a:t>BM25</a:t>
                      </a:r>
                    </a:p>
                  </a:txBody>
                  <a:tcPr>
                    <a:solidFill>
                      <a:srgbClr val="FFFFFF"/>
                    </a:solidFill>
                  </a:tcPr>
                </a:tc>
                <a:tc>
                  <a:txBody>
                    <a:bodyPr/>
                    <a:lstStyle/>
                    <a:p>
                      <a:r>
                        <a:rPr sz="1800" b="0">
                          <a:solidFill>
                            <a:srgbClr val="1C3029"/>
                          </a:solidFill>
                        </a:rPr>
                        <a:t>Fixed</a:t>
                      </a:r>
                    </a:p>
                  </a:txBody>
                  <a:tcPr>
                    <a:solidFill>
                      <a:srgbClr val="FFFFFF"/>
                    </a:solidFill>
                  </a:tcPr>
                </a:tc>
                <a:tc>
                  <a:txBody>
                    <a:bodyPr/>
                    <a:lstStyle/>
                    <a:p>
                      <a:r>
                        <a:rPr sz="1800" b="0">
                          <a:solidFill>
                            <a:srgbClr val="1C3029"/>
                          </a:solidFill>
                        </a:rPr>
                        <a:t>0.875</a:t>
                      </a:r>
                    </a:p>
                  </a:txBody>
                  <a:tcPr>
                    <a:solidFill>
                      <a:srgbClr val="FFFFFF"/>
                    </a:solidFill>
                  </a:tcPr>
                </a:tc>
                <a:extLst>
                  <a:ext uri="{0D108BD9-81ED-4DB2-BD59-A6C34878D82A}">
                    <a16:rowId xmlns:a16="http://schemas.microsoft.com/office/drawing/2014/main" val="10001"/>
                  </a:ext>
                </a:extLst>
              </a:tr>
              <a:tr h="579438">
                <a:tc>
                  <a:txBody>
                    <a:bodyPr/>
                    <a:lstStyle/>
                    <a:p>
                      <a:r>
                        <a:rPr sz="1800" b="0">
                          <a:solidFill>
                            <a:srgbClr val="1C3029"/>
                          </a:solidFill>
                        </a:rPr>
                        <a:t>Dense</a:t>
                      </a:r>
                    </a:p>
                  </a:txBody>
                  <a:tcPr>
                    <a:solidFill>
                      <a:srgbClr val="F5F3EB"/>
                    </a:solidFill>
                  </a:tcPr>
                </a:tc>
                <a:tc>
                  <a:txBody>
                    <a:bodyPr/>
                    <a:lstStyle/>
                    <a:p>
                      <a:r>
                        <a:rPr sz="1800" b="0">
                          <a:solidFill>
                            <a:srgbClr val="1C3029"/>
                          </a:solidFill>
                        </a:rPr>
                        <a:t>Fixed</a:t>
                      </a:r>
                    </a:p>
                  </a:txBody>
                  <a:tcPr>
                    <a:solidFill>
                      <a:srgbClr val="F5F3EB"/>
                    </a:solidFill>
                  </a:tcPr>
                </a:tc>
                <a:tc>
                  <a:txBody>
                    <a:bodyPr/>
                    <a:lstStyle/>
                    <a:p>
                      <a:r>
                        <a:rPr sz="1800" b="0">
                          <a:solidFill>
                            <a:srgbClr val="1C3029"/>
                          </a:solidFill>
                        </a:rPr>
                        <a:t>0.550</a:t>
                      </a:r>
                    </a:p>
                  </a:txBody>
                  <a:tcPr>
                    <a:solidFill>
                      <a:srgbClr val="F5F3EB"/>
                    </a:solidFill>
                  </a:tcPr>
                </a:tc>
                <a:extLst>
                  <a:ext uri="{0D108BD9-81ED-4DB2-BD59-A6C34878D82A}">
                    <a16:rowId xmlns:a16="http://schemas.microsoft.com/office/drawing/2014/main" val="10002"/>
                  </a:ext>
                </a:extLst>
              </a:tr>
              <a:tr h="579438">
                <a:tc>
                  <a:txBody>
                    <a:bodyPr/>
                    <a:lstStyle/>
                    <a:p>
                      <a:r>
                        <a:rPr sz="1800" b="0">
                          <a:solidFill>
                            <a:srgbClr val="1C3029"/>
                          </a:solidFill>
                        </a:rPr>
                        <a:t>Dense</a:t>
                      </a:r>
                    </a:p>
                  </a:txBody>
                  <a:tcPr>
                    <a:solidFill>
                      <a:srgbClr val="FFFFFF"/>
                    </a:solidFill>
                  </a:tcPr>
                </a:tc>
                <a:tc>
                  <a:txBody>
                    <a:bodyPr/>
                    <a:lstStyle/>
                    <a:p>
                      <a:r>
                        <a:rPr sz="1800" b="0">
                          <a:solidFill>
                            <a:srgbClr val="1C3029"/>
                          </a:solidFill>
                        </a:rPr>
                        <a:t>Structure-aware</a:t>
                      </a:r>
                    </a:p>
                  </a:txBody>
                  <a:tcPr>
                    <a:solidFill>
                      <a:srgbClr val="FFFFFF"/>
                    </a:solidFill>
                  </a:tcPr>
                </a:tc>
                <a:tc>
                  <a:txBody>
                    <a:bodyPr/>
                    <a:lstStyle/>
                    <a:p>
                      <a:r>
                        <a:rPr sz="1800" b="0">
                          <a:solidFill>
                            <a:srgbClr val="1C3029"/>
                          </a:solidFill>
                        </a:rPr>
                        <a:t>0.854</a:t>
                      </a:r>
                    </a:p>
                  </a:txBody>
                  <a:tcPr>
                    <a:solidFill>
                      <a:srgbClr val="FFFFFF"/>
                    </a:solidFill>
                  </a:tcPr>
                </a:tc>
                <a:extLst>
                  <a:ext uri="{0D108BD9-81ED-4DB2-BD59-A6C34878D82A}">
                    <a16:rowId xmlns:a16="http://schemas.microsoft.com/office/drawing/2014/main" val="10003"/>
                  </a:ext>
                </a:extLst>
              </a:tr>
              <a:tr h="579438">
                <a:tc>
                  <a:txBody>
                    <a:bodyPr/>
                    <a:lstStyle/>
                    <a:p>
                      <a:r>
                        <a:rPr sz="1800" b="0">
                          <a:solidFill>
                            <a:srgbClr val="1C3029"/>
                          </a:solidFill>
                        </a:rPr>
                        <a:t>Hybrid</a:t>
                      </a:r>
                    </a:p>
                  </a:txBody>
                  <a:tcPr>
                    <a:solidFill>
                      <a:srgbClr val="F5F3EB"/>
                    </a:solidFill>
                  </a:tcPr>
                </a:tc>
                <a:tc>
                  <a:txBody>
                    <a:bodyPr/>
                    <a:lstStyle/>
                    <a:p>
                      <a:r>
                        <a:rPr sz="1800" b="0">
                          <a:solidFill>
                            <a:srgbClr val="1C3029"/>
                          </a:solidFill>
                        </a:rPr>
                        <a:t>Structure-aware</a:t>
                      </a:r>
                    </a:p>
                  </a:txBody>
                  <a:tcPr>
                    <a:solidFill>
                      <a:srgbClr val="F5F3EB"/>
                    </a:solidFill>
                  </a:tcPr>
                </a:tc>
                <a:tc>
                  <a:txBody>
                    <a:bodyPr/>
                    <a:lstStyle/>
                    <a:p>
                      <a:r>
                        <a:rPr sz="1800" b="0">
                          <a:solidFill>
                            <a:srgbClr val="1C3029"/>
                          </a:solidFill>
                        </a:rPr>
                        <a:t>0.854</a:t>
                      </a:r>
                    </a:p>
                  </a:txBody>
                  <a:tcPr>
                    <a:solidFill>
                      <a:srgbClr val="F5F3EB"/>
                    </a:solidFill>
                  </a:tcPr>
                </a:tc>
                <a:extLst>
                  <a:ext uri="{0D108BD9-81ED-4DB2-BD59-A6C34878D82A}">
                    <a16:rowId xmlns:a16="http://schemas.microsoft.com/office/drawing/2014/main" val="10004"/>
                  </a:ext>
                </a:extLst>
              </a:tr>
              <a:tr h="579438">
                <a:tc>
                  <a:txBody>
                    <a:bodyPr/>
                    <a:lstStyle/>
                    <a:p>
                      <a:r>
                        <a:rPr sz="1800" b="0">
                          <a:solidFill>
                            <a:srgbClr val="1C3029"/>
                          </a:solidFill>
                        </a:rPr>
                        <a:t>Hybrid + reranker</a:t>
                      </a:r>
                    </a:p>
                  </a:txBody>
                  <a:tcPr>
                    <a:solidFill>
                      <a:srgbClr val="FFFFFF"/>
                    </a:solidFill>
                  </a:tcPr>
                </a:tc>
                <a:tc>
                  <a:txBody>
                    <a:bodyPr/>
                    <a:lstStyle/>
                    <a:p>
                      <a:r>
                        <a:rPr sz="1800" b="0">
                          <a:solidFill>
                            <a:srgbClr val="1C3029"/>
                          </a:solidFill>
                        </a:rPr>
                        <a:t>Structure-aware</a:t>
                      </a:r>
                    </a:p>
                  </a:txBody>
                  <a:tcPr>
                    <a:solidFill>
                      <a:srgbClr val="FFFFFF"/>
                    </a:solidFill>
                  </a:tcPr>
                </a:tc>
                <a:tc>
                  <a:txBody>
                    <a:bodyPr/>
                    <a:lstStyle/>
                    <a:p>
                      <a:r>
                        <a:rPr sz="1800" b="0">
                          <a:solidFill>
                            <a:srgbClr val="1C3029"/>
                          </a:solidFill>
                        </a:rPr>
                        <a:t>0.781</a:t>
                      </a:r>
                    </a:p>
                  </a:txBody>
                  <a:tcPr>
                    <a:solidFill>
                      <a:srgbClr val="FFFFFF"/>
                    </a:solidFill>
                  </a:tcPr>
                </a:tc>
                <a:extLst>
                  <a:ext uri="{0D108BD9-81ED-4DB2-BD59-A6C34878D82A}">
                    <a16:rowId xmlns:a16="http://schemas.microsoft.com/office/drawing/2014/main" val="10005"/>
                  </a:ext>
                </a:extLst>
              </a:tr>
            </a:tbl>
          </a:graphicData>
        </a:graphic>
      </p:graphicFrame>
      <p:sp>
        <p:nvSpPr>
          <p:cNvPr id="4" name="Rectangle 3">
            <a:extLst>
              <a:ext uri="{FF2B5EF4-FFF2-40B4-BE49-F238E27FC236}">
                <a16:creationId xmlns:a16="http://schemas.microsoft.com/office/drawing/2014/main" id="{4FF87147-74DB-415E-ABA4-F6FA451A1252}"/>
              </a:ext>
            </a:extLst>
          </p:cNvPr>
          <p:cNvSpPr>
            <a:spLocks noGrp="1"/>
          </p:cNvSpPr>
          <p:nvPr/>
        </p:nvSpPr>
        <p:spPr>
          <a:xfrm>
            <a:off x="609600" y="5257800"/>
            <a:ext cx="10763250" cy="904875"/>
          </a:xfrm>
          <a:prstGeom prst="rect">
            <a:avLst/>
          </a:prstGeom>
          <a:noFill/>
          <a:ln w="0">
            <a:noFill/>
          </a:ln>
        </p:spPr>
        <p:txBody>
          <a:bodyPr/>
          <a:lstStyle>
            <a:defPPr>
              <a:defRPr sz="1875" b="0">
                <a:solidFill>
                  <a:srgbClr val="59685F"/>
                </a:solidFill>
              </a:defRPr>
            </a:defPPr>
          </a:lstStyle>
          <a:p>
            <a:pPr>
              <a:defRPr sz="1875" b="0">
                <a:solidFill>
                  <a:srgbClr val="59685F"/>
                </a:solidFill>
              </a:defRPr>
            </a:pPr>
            <a:r>
              <a:rPr sz="1875" b="0">
                <a:solidFill>
                  <a:srgbClr val="59685F"/>
                </a:solidFill>
              </a:rPr>
              <a:t>12 diagnostic items, 8 with evidence. Labels await human verification.</a:t>
            </a:r>
          </a:p>
          <a:p>
            <a:pPr>
              <a:defRPr sz="1875" b="0">
                <a:solidFill>
                  <a:srgbClr val="59685F"/>
                </a:solidFill>
              </a:defRPr>
            </a:pPr>
            <a:r>
              <a:rPr sz="1875" b="0">
                <a:solidFill>
                  <a:srgbClr val="59685F"/>
                </a:solidFill>
              </a:rPr>
              <a:t>Historical local run with an older generator. Hosted retrieval differs.</a:t>
            </a:r>
          </a:p>
        </p:txBody>
      </p:sp>
    </p:spTree>
    <p:extLst>
      <p:ext uri="{BB962C8B-B14F-4D97-AF65-F5344CB8AC3E}">
        <p14:creationId xmlns:p14="http://schemas.microsoft.com/office/powerpoint/2010/main" val="1002914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09D7098-773E-4F9A-9C89-A2661F1555E8}"/>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Evaluation </a:t>
            </a:r>
            <a:r>
              <a:rPr lang="en-IN" sz="3300" b="1">
                <a:solidFill>
                  <a:srgbClr val="204C3B"/>
                </a:solidFill>
              </a:rPr>
              <a:t>S</a:t>
            </a:r>
            <a:r>
              <a:rPr sz="3300" b="1">
                <a:solidFill>
                  <a:srgbClr val="204C3B"/>
                </a:solidFill>
              </a:rPr>
              <a:t>tatus and </a:t>
            </a:r>
            <a:r>
              <a:rPr lang="en-IN" sz="3300" b="1">
                <a:solidFill>
                  <a:srgbClr val="204C3B"/>
                </a:solidFill>
              </a:rPr>
              <a:t>R</a:t>
            </a:r>
            <a:r>
              <a:rPr sz="3300" b="1" err="1">
                <a:solidFill>
                  <a:srgbClr val="204C3B"/>
                </a:solidFill>
              </a:rPr>
              <a:t>emaining</a:t>
            </a:r>
            <a:r>
              <a:rPr sz="3300" b="1">
                <a:solidFill>
                  <a:srgbClr val="204C3B"/>
                </a:solidFill>
              </a:rPr>
              <a:t> </a:t>
            </a:r>
            <a:r>
              <a:rPr lang="en-IN" sz="3300" b="1">
                <a:solidFill>
                  <a:srgbClr val="204C3B"/>
                </a:solidFill>
              </a:rPr>
              <a:t>W</a:t>
            </a:r>
            <a:r>
              <a:rPr sz="3300" b="1">
                <a:solidFill>
                  <a:srgbClr val="204C3B"/>
                </a:solidFill>
              </a:rPr>
              <a:t>ork</a:t>
            </a:r>
          </a:p>
        </p:txBody>
      </p:sp>
      <p:sp>
        <p:nvSpPr>
          <p:cNvPr id="2" name="Rectangle 1">
            <a:extLst>
              <a:ext uri="{FF2B5EF4-FFF2-40B4-BE49-F238E27FC236}">
                <a16:creationId xmlns:a16="http://schemas.microsoft.com/office/drawing/2014/main" id="{87948D5C-3F7C-4BB1-9979-CA7213C24D31}"/>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12</a:t>
            </a:r>
          </a:p>
        </p:txBody>
      </p:sp>
      <p:sp>
        <p:nvSpPr>
          <p:cNvPr id="3" name="Rectangle 2">
            <a:extLst>
              <a:ext uri="{FF2B5EF4-FFF2-40B4-BE49-F238E27FC236}">
                <a16:creationId xmlns:a16="http://schemas.microsoft.com/office/drawing/2014/main" id="{4FB964A2-2126-4037-ACF6-B8E552D456E1}"/>
              </a:ext>
            </a:extLst>
          </p:cNvPr>
          <p:cNvSpPr>
            <a:spLocks noGrp="1"/>
          </p:cNvSpPr>
          <p:nvPr/>
        </p:nvSpPr>
        <p:spPr>
          <a:xfrm>
            <a:off x="609600" y="16668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Observed diagnostics</a:t>
            </a:r>
          </a:p>
        </p:txBody>
      </p:sp>
      <p:sp>
        <p:nvSpPr>
          <p:cNvPr id="4" name="Rectangle 3">
            <a:extLst>
              <a:ext uri="{FF2B5EF4-FFF2-40B4-BE49-F238E27FC236}">
                <a16:creationId xmlns:a16="http://schemas.microsoft.com/office/drawing/2014/main" id="{C04E47AC-CA56-486A-8B5B-D7D17524E801}"/>
              </a:ext>
            </a:extLst>
          </p:cNvPr>
          <p:cNvSpPr>
            <a:spLocks noGrp="1"/>
          </p:cNvSpPr>
          <p:nvPr/>
        </p:nvSpPr>
        <p:spPr>
          <a:xfrm>
            <a:off x="4572000" y="16668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21/21 requests completed. 20/21 action and boundary checks matched.</a:t>
            </a:r>
          </a:p>
        </p:txBody>
      </p:sp>
      <p:sp>
        <p:nvSpPr>
          <p:cNvPr id="5" name="Rectangle 4">
            <a:extLst>
              <a:ext uri="{FF2B5EF4-FFF2-40B4-BE49-F238E27FC236}">
                <a16:creationId xmlns:a16="http://schemas.microsoft.com/office/drawing/2014/main" id="{2D548112-0F0B-46DD-B3A6-32EFA4DA0B72}"/>
              </a:ext>
            </a:extLst>
          </p:cNvPr>
          <p:cNvSpPr>
            <a:spLocks noGrp="1"/>
          </p:cNvSpPr>
          <p:nvPr/>
        </p:nvSpPr>
        <p:spPr>
          <a:xfrm>
            <a:off x="609600" y="27336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Human verification</a:t>
            </a:r>
          </a:p>
        </p:txBody>
      </p:sp>
      <p:sp>
        <p:nvSpPr>
          <p:cNvPr id="6" name="Rectangle 5">
            <a:extLst>
              <a:ext uri="{FF2B5EF4-FFF2-40B4-BE49-F238E27FC236}">
                <a16:creationId xmlns:a16="http://schemas.microsoft.com/office/drawing/2014/main" id="{1C8B1F21-814B-4B59-807E-D47557A7A42D}"/>
              </a:ext>
            </a:extLst>
          </p:cNvPr>
          <p:cNvSpPr>
            <a:spLocks noGrp="1"/>
          </p:cNvSpPr>
          <p:nvPr/>
        </p:nvSpPr>
        <p:spPr>
          <a:xfrm>
            <a:off x="4572000" y="2733675"/>
            <a:ext cx="6858000" cy="857250"/>
          </a:xfrm>
          <a:prstGeom prst="rect">
            <a:avLst/>
          </a:prstGeom>
          <a:noFill/>
          <a:ln w="0">
            <a:noFill/>
          </a:ln>
        </p:spPr>
        <p:txBody>
          <a:bodyPr lIns="91440" tIns="45720" rIns="91440" bIns="45720" anchor="t"/>
          <a:lstStyle>
            <a:defPPr>
              <a:defRPr sz="2025" b="0">
                <a:solidFill>
                  <a:srgbClr val="1C3029"/>
                </a:solidFill>
              </a:defRPr>
            </a:defPPr>
          </a:lstStyle>
          <a:p>
            <a:pPr>
              <a:defRPr sz="2025" b="0">
                <a:solidFill>
                  <a:srgbClr val="1C3029"/>
                </a:solidFill>
              </a:defRPr>
            </a:pPr>
            <a:r>
              <a:rPr sz="2000" b="0">
                <a:solidFill>
                  <a:srgbClr val="1C3029"/>
                </a:solidFill>
              </a:rPr>
              <a:t>40 gold </a:t>
            </a:r>
            <a:r>
              <a:rPr lang="en-US" sz="2000">
                <a:solidFill>
                  <a:srgbClr val="1C3029"/>
                </a:solidFill>
              </a:rPr>
              <a:t>drafts tested by human verification </a:t>
            </a:r>
            <a:endParaRPr lang="en-US" sz="2000" b="0">
              <a:solidFill>
                <a:srgbClr val="1C3029"/>
              </a:solidFill>
            </a:endParaRPr>
          </a:p>
        </p:txBody>
      </p:sp>
      <p:sp>
        <p:nvSpPr>
          <p:cNvPr id="7" name="Rectangle 6">
            <a:extLst>
              <a:ext uri="{FF2B5EF4-FFF2-40B4-BE49-F238E27FC236}">
                <a16:creationId xmlns:a16="http://schemas.microsoft.com/office/drawing/2014/main" id="{F68E3AC4-AEAE-4B55-8471-EEB761340FA4}"/>
              </a:ext>
            </a:extLst>
          </p:cNvPr>
          <p:cNvSpPr>
            <a:spLocks noGrp="1"/>
          </p:cNvSpPr>
          <p:nvPr/>
        </p:nvSpPr>
        <p:spPr>
          <a:xfrm>
            <a:off x="609600" y="38004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Formal benchmark</a:t>
            </a:r>
          </a:p>
        </p:txBody>
      </p:sp>
      <p:sp>
        <p:nvSpPr>
          <p:cNvPr id="8" name="Rectangle 7">
            <a:extLst>
              <a:ext uri="{FF2B5EF4-FFF2-40B4-BE49-F238E27FC236}">
                <a16:creationId xmlns:a16="http://schemas.microsoft.com/office/drawing/2014/main" id="{D23598C1-D7B7-4D1C-BA10-0C64070ADD7F}"/>
              </a:ext>
            </a:extLst>
          </p:cNvPr>
          <p:cNvSpPr>
            <a:spLocks noGrp="1"/>
          </p:cNvSpPr>
          <p:nvPr/>
        </p:nvSpPr>
        <p:spPr>
          <a:xfrm>
            <a:off x="4572000" y="38004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Freeze a 24/16 dev/test split, approve the configuration, then run the test once.</a:t>
            </a:r>
          </a:p>
        </p:txBody>
      </p:sp>
      <p:sp>
        <p:nvSpPr>
          <p:cNvPr id="9" name="Rectangle 8">
            <a:extLst>
              <a:ext uri="{FF2B5EF4-FFF2-40B4-BE49-F238E27FC236}">
                <a16:creationId xmlns:a16="http://schemas.microsoft.com/office/drawing/2014/main" id="{B976D285-11B9-4364-A6FF-4BDD654A6725}"/>
              </a:ext>
            </a:extLst>
          </p:cNvPr>
          <p:cNvSpPr>
            <a:spLocks noGrp="1"/>
          </p:cNvSpPr>
          <p:nvPr/>
        </p:nvSpPr>
        <p:spPr>
          <a:xfrm>
            <a:off x="609600" y="4867275"/>
            <a:ext cx="3429000" cy="571500"/>
          </a:xfrm>
          <a:prstGeom prst="rect">
            <a:avLst/>
          </a:prstGeom>
          <a:noFill/>
          <a:ln w="0">
            <a:noFill/>
          </a:ln>
        </p:spPr>
        <p:txBody>
          <a:bodyPr/>
          <a:lstStyle>
            <a:defPPr>
              <a:defRPr sz="1800" b="1">
                <a:solidFill>
                  <a:srgbClr val="204C3B"/>
                </a:solidFill>
              </a:defRPr>
            </a:defPPr>
          </a:lstStyle>
          <a:p>
            <a:pPr>
              <a:defRPr sz="1800" b="1">
                <a:solidFill>
                  <a:srgbClr val="204C3B"/>
                </a:solidFill>
              </a:defRPr>
            </a:pPr>
            <a:r>
              <a:rPr sz="1800" b="1">
                <a:solidFill>
                  <a:srgbClr val="204C3B"/>
                </a:solidFill>
              </a:rPr>
              <a:t>Report quality</a:t>
            </a:r>
          </a:p>
        </p:txBody>
      </p:sp>
      <p:sp>
        <p:nvSpPr>
          <p:cNvPr id="10" name="Rectangle 9">
            <a:extLst>
              <a:ext uri="{FF2B5EF4-FFF2-40B4-BE49-F238E27FC236}">
                <a16:creationId xmlns:a16="http://schemas.microsoft.com/office/drawing/2014/main" id="{2D56D9AE-4905-4A84-A101-8E9A5A408CAE}"/>
              </a:ext>
            </a:extLst>
          </p:cNvPr>
          <p:cNvSpPr>
            <a:spLocks noGrp="1"/>
          </p:cNvSpPr>
          <p:nvPr/>
        </p:nvSpPr>
        <p:spPr>
          <a:xfrm>
            <a:off x="4572000" y="4867275"/>
            <a:ext cx="6858000" cy="85725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Measure evidence recall, ranking, answer correctness, citations, refusals and latency.</a:t>
            </a:r>
          </a:p>
        </p:txBody>
      </p:sp>
    </p:spTree>
    <p:extLst>
      <p:ext uri="{BB962C8B-B14F-4D97-AF65-F5344CB8AC3E}">
        <p14:creationId xmlns:p14="http://schemas.microsoft.com/office/powerpoint/2010/main" val="1822683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92AC1D-3439-4B25-A507-440A849466F0}"/>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Demonstration and </a:t>
            </a:r>
            <a:r>
              <a:rPr lang="en-IN" sz="3300" b="1">
                <a:solidFill>
                  <a:srgbClr val="204C3B"/>
                </a:solidFill>
              </a:rPr>
              <a:t>P</a:t>
            </a:r>
            <a:r>
              <a:rPr sz="3300" b="1" err="1">
                <a:solidFill>
                  <a:srgbClr val="204C3B"/>
                </a:solidFill>
              </a:rPr>
              <a:t>ractical</a:t>
            </a:r>
            <a:r>
              <a:rPr sz="3300" b="1">
                <a:solidFill>
                  <a:srgbClr val="204C3B"/>
                </a:solidFill>
              </a:rPr>
              <a:t> </a:t>
            </a:r>
            <a:r>
              <a:rPr lang="en-IN" sz="3300" b="1">
                <a:solidFill>
                  <a:srgbClr val="204C3B"/>
                </a:solidFill>
              </a:rPr>
              <a:t>L</a:t>
            </a:r>
            <a:r>
              <a:rPr sz="3300" b="1">
                <a:solidFill>
                  <a:srgbClr val="204C3B"/>
                </a:solidFill>
              </a:rPr>
              <a:t>imits</a:t>
            </a:r>
          </a:p>
        </p:txBody>
      </p:sp>
      <p:sp>
        <p:nvSpPr>
          <p:cNvPr id="2" name="Rectangle 1">
            <a:extLst>
              <a:ext uri="{FF2B5EF4-FFF2-40B4-BE49-F238E27FC236}">
                <a16:creationId xmlns:a16="http://schemas.microsoft.com/office/drawing/2014/main" id="{F8B21CCC-F0A6-4DB7-B400-4E3CE8C509DC}"/>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13</a:t>
            </a:r>
          </a:p>
        </p:txBody>
      </p:sp>
      <p:sp>
        <p:nvSpPr>
          <p:cNvPr id="3" name="Rectangle 2">
            <a:extLst>
              <a:ext uri="{FF2B5EF4-FFF2-40B4-BE49-F238E27FC236}">
                <a16:creationId xmlns:a16="http://schemas.microsoft.com/office/drawing/2014/main" id="{D1467E89-FDC2-4320-BC8A-85D39FCF6B5B}"/>
              </a:ext>
            </a:extLst>
          </p:cNvPr>
          <p:cNvSpPr>
            <a:spLocks noGrp="1"/>
          </p:cNvSpPr>
          <p:nvPr/>
        </p:nvSpPr>
        <p:spPr>
          <a:xfrm>
            <a:off x="609600" y="1524000"/>
            <a:ext cx="4762500" cy="476250"/>
          </a:xfrm>
          <a:prstGeom prst="rect">
            <a:avLst/>
          </a:prstGeom>
          <a:noFill/>
          <a:ln w="0">
            <a:noFill/>
          </a:ln>
        </p:spPr>
        <p:txBody>
          <a:bodyPr/>
          <a:lstStyle>
            <a:defPPr>
              <a:defRPr sz="2250" b="1">
                <a:solidFill>
                  <a:srgbClr val="204C3B"/>
                </a:solidFill>
              </a:defRPr>
            </a:defPPr>
          </a:lstStyle>
          <a:p>
            <a:pPr>
              <a:defRPr sz="2250" b="1">
                <a:solidFill>
                  <a:srgbClr val="204C3B"/>
                </a:solidFill>
              </a:defRPr>
            </a:pPr>
            <a:r>
              <a:rPr sz="2250" b="1">
                <a:solidFill>
                  <a:srgbClr val="204C3B"/>
                </a:solidFill>
              </a:rPr>
              <a:t>Demo sequence</a:t>
            </a:r>
          </a:p>
        </p:txBody>
      </p:sp>
      <p:sp>
        <p:nvSpPr>
          <p:cNvPr id="4" name="Rectangle 3">
            <a:extLst>
              <a:ext uri="{FF2B5EF4-FFF2-40B4-BE49-F238E27FC236}">
                <a16:creationId xmlns:a16="http://schemas.microsoft.com/office/drawing/2014/main" id="{4BBF9F35-40AB-4D8D-AB4C-0810F58FA80C}"/>
              </a:ext>
            </a:extLst>
          </p:cNvPr>
          <p:cNvSpPr>
            <a:spLocks noGrp="1"/>
          </p:cNvSpPr>
          <p:nvPr/>
        </p:nvSpPr>
        <p:spPr>
          <a:xfrm>
            <a:off x="609600" y="2190750"/>
            <a:ext cx="6286500" cy="3190875"/>
          </a:xfrm>
          <a:prstGeom prst="rect">
            <a:avLst/>
          </a:prstGeom>
          <a:noFill/>
          <a:ln w="0">
            <a:noFill/>
          </a:ln>
        </p:spPr>
        <p:txBody>
          <a:bodyPr/>
          <a:lstStyle>
            <a:defPPr>
              <a:defRPr sz="2100" b="0">
                <a:solidFill>
                  <a:srgbClr val="1C3029"/>
                </a:solidFill>
              </a:defRPr>
            </a:defPPr>
          </a:lstStyle>
          <a:p>
            <a:pPr>
              <a:defRPr sz="2100" b="0">
                <a:solidFill>
                  <a:srgbClr val="1C3029"/>
                </a:solidFill>
              </a:defRPr>
            </a:pPr>
            <a:r>
              <a:rPr sz="2100" b="0">
                <a:solidFill>
                  <a:srgbClr val="1C3029"/>
                </a:solidFill>
              </a:rPr>
              <a:t>1. Select Yosemite</a:t>
            </a:r>
          </a:p>
          <a:p>
            <a:pPr>
              <a:defRPr sz="2100" b="0">
                <a:solidFill>
                  <a:srgbClr val="1C3029"/>
                </a:solidFill>
              </a:defRPr>
            </a:pPr>
            <a:r>
              <a:rPr sz="2100" b="0">
                <a:solidFill>
                  <a:srgbClr val="1C3029"/>
                </a:solidFill>
              </a:rPr>
              <a:t>2. Ask about bear distance outside developed areas</a:t>
            </a:r>
          </a:p>
          <a:p>
            <a:pPr>
              <a:defRPr sz="2100" b="0">
                <a:solidFill>
                  <a:srgbClr val="1C3029"/>
                </a:solidFill>
              </a:defRPr>
            </a:pPr>
            <a:r>
              <a:rPr sz="2100" b="0">
                <a:solidFill>
                  <a:srgbClr val="1C3029"/>
                </a:solidFill>
              </a:rPr>
              <a:t>3. Follow up about a bear in a developed area</a:t>
            </a:r>
          </a:p>
          <a:p>
            <a:pPr>
              <a:defRPr sz="2100" b="0">
                <a:solidFill>
                  <a:srgbClr val="1C3029"/>
                </a:solidFill>
              </a:defRPr>
            </a:pPr>
            <a:r>
              <a:rPr sz="2100" b="0">
                <a:solidFill>
                  <a:srgbClr val="1C3029"/>
                </a:solidFill>
              </a:rPr>
              <a:t>4. Open the citation and retrieval trace</a:t>
            </a:r>
          </a:p>
          <a:p>
            <a:pPr>
              <a:defRPr sz="2100" b="0">
                <a:solidFill>
                  <a:srgbClr val="1C3029"/>
                </a:solidFill>
              </a:defRPr>
            </a:pPr>
            <a:r>
              <a:rPr sz="2100" b="0">
                <a:solidFill>
                  <a:srgbClr val="1C3029"/>
                </a:solidFill>
              </a:rPr>
              <a:t>5. Ask for current road status</a:t>
            </a:r>
          </a:p>
        </p:txBody>
      </p:sp>
      <p:sp>
        <p:nvSpPr>
          <p:cNvPr id="5" name="Rectangle 4">
            <a:extLst>
              <a:ext uri="{FF2B5EF4-FFF2-40B4-BE49-F238E27FC236}">
                <a16:creationId xmlns:a16="http://schemas.microsoft.com/office/drawing/2014/main" id="{88B6D1C4-D430-4128-8DE4-8620444A02B6}"/>
              </a:ext>
            </a:extLst>
          </p:cNvPr>
          <p:cNvSpPr>
            <a:spLocks noGrp="1"/>
          </p:cNvSpPr>
          <p:nvPr/>
        </p:nvSpPr>
        <p:spPr>
          <a:xfrm>
            <a:off x="7667625" y="1524000"/>
            <a:ext cx="3810000" cy="476250"/>
          </a:xfrm>
          <a:prstGeom prst="rect">
            <a:avLst/>
          </a:prstGeom>
          <a:noFill/>
          <a:ln w="0">
            <a:noFill/>
          </a:ln>
        </p:spPr>
        <p:txBody>
          <a:bodyPr/>
          <a:lstStyle>
            <a:defPPr>
              <a:defRPr sz="2250" b="1">
                <a:solidFill>
                  <a:srgbClr val="204C3B"/>
                </a:solidFill>
              </a:defRPr>
            </a:defPPr>
          </a:lstStyle>
          <a:p>
            <a:pPr>
              <a:defRPr sz="2250" b="1">
                <a:solidFill>
                  <a:srgbClr val="204C3B"/>
                </a:solidFill>
              </a:defRPr>
            </a:pPr>
            <a:r>
              <a:rPr sz="2250" b="1">
                <a:solidFill>
                  <a:srgbClr val="204C3B"/>
                </a:solidFill>
              </a:rPr>
              <a:t>Practical limits</a:t>
            </a:r>
          </a:p>
        </p:txBody>
      </p:sp>
      <p:sp>
        <p:nvSpPr>
          <p:cNvPr id="6" name="Rectangle 5">
            <a:extLst>
              <a:ext uri="{FF2B5EF4-FFF2-40B4-BE49-F238E27FC236}">
                <a16:creationId xmlns:a16="http://schemas.microsoft.com/office/drawing/2014/main" id="{A34BE2DA-53CE-406C-9164-CA743481F7E2}"/>
              </a:ext>
            </a:extLst>
          </p:cNvPr>
          <p:cNvSpPr>
            <a:spLocks noGrp="1"/>
          </p:cNvSpPr>
          <p:nvPr/>
        </p:nvSpPr>
        <p:spPr>
          <a:xfrm>
            <a:off x="7667625" y="2190750"/>
            <a:ext cx="3810000" cy="3429000"/>
          </a:xfrm>
          <a:prstGeom prst="rect">
            <a:avLst/>
          </a:prstGeom>
          <a:noFill/>
          <a:ln w="0">
            <a:noFill/>
          </a:ln>
        </p:spPr>
        <p:txBody>
          <a:bodyPr/>
          <a:lstStyle>
            <a:defPPr>
              <a:defRPr sz="2025" b="0">
                <a:solidFill>
                  <a:srgbClr val="1C3029"/>
                </a:solidFill>
              </a:defRPr>
            </a:defPPr>
          </a:lstStyle>
          <a:p>
            <a:pPr>
              <a:defRPr sz="2025" b="0">
                <a:solidFill>
                  <a:srgbClr val="1C3029"/>
                </a:solidFill>
              </a:defRPr>
            </a:pPr>
            <a:r>
              <a:rPr sz="2025" b="0">
                <a:solidFill>
                  <a:srgbClr val="1C3029"/>
                </a:solidFill>
              </a:rPr>
              <a:t>Saved corpus can age</a:t>
            </a:r>
          </a:p>
          <a:p>
            <a:endParaRPr sz="2025" b="0">
              <a:solidFill>
                <a:srgbClr val="1C3029"/>
              </a:solidFill>
            </a:endParaRPr>
          </a:p>
          <a:p>
            <a:pPr>
              <a:defRPr sz="2025" b="0">
                <a:solidFill>
                  <a:srgbClr val="1C3029"/>
                </a:solidFill>
              </a:defRPr>
            </a:pPr>
            <a:r>
              <a:rPr sz="2025" b="0">
                <a:solidFill>
                  <a:srgbClr val="1C3029"/>
                </a:solidFill>
              </a:rPr>
              <a:t>PDF tables need review</a:t>
            </a:r>
          </a:p>
          <a:p>
            <a:endParaRPr sz="2025" b="0">
              <a:solidFill>
                <a:srgbClr val="1C3029"/>
              </a:solidFill>
            </a:endParaRPr>
          </a:p>
          <a:p>
            <a:pPr>
              <a:defRPr sz="2025" b="0">
                <a:solidFill>
                  <a:srgbClr val="1C3029"/>
                </a:solidFill>
              </a:defRPr>
            </a:pPr>
            <a:r>
              <a:rPr sz="2025" b="0">
                <a:solidFill>
                  <a:srgbClr val="1C3029"/>
                </a:solidFill>
              </a:rPr>
              <a:t>AI review can over-refuse</a:t>
            </a:r>
          </a:p>
          <a:p>
            <a:endParaRPr sz="2025" b="0">
              <a:solidFill>
                <a:srgbClr val="1C3029"/>
              </a:solidFill>
            </a:endParaRPr>
          </a:p>
          <a:p>
            <a:pPr>
              <a:defRPr sz="2025" b="0">
                <a:solidFill>
                  <a:srgbClr val="1C3029"/>
                </a:solidFill>
              </a:defRPr>
            </a:pPr>
            <a:r>
              <a:rPr sz="2025" b="0">
                <a:solidFill>
                  <a:srgbClr val="1C3029"/>
                </a:solidFill>
              </a:rPr>
              <a:t>Hosted app omits reranking</a:t>
            </a:r>
          </a:p>
        </p:txBody>
      </p:sp>
    </p:spTree>
    <p:extLst>
      <p:ext uri="{BB962C8B-B14F-4D97-AF65-F5344CB8AC3E}">
        <p14:creationId xmlns:p14="http://schemas.microsoft.com/office/powerpoint/2010/main" val="395103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9A2F5A-0BCC-4045-8A52-DB7589A20143}"/>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Live </a:t>
            </a:r>
            <a:r>
              <a:rPr lang="en-IN" sz="3300" b="1">
                <a:solidFill>
                  <a:srgbClr val="204C3B"/>
                </a:solidFill>
              </a:rPr>
              <a:t>A</a:t>
            </a:r>
            <a:r>
              <a:rPr sz="3300" b="1">
                <a:solidFill>
                  <a:srgbClr val="204C3B"/>
                </a:solidFill>
              </a:rPr>
              <a:t>pplication</a:t>
            </a:r>
          </a:p>
        </p:txBody>
      </p:sp>
      <p:sp>
        <p:nvSpPr>
          <p:cNvPr id="2" name="Rectangle 1">
            <a:extLst>
              <a:ext uri="{FF2B5EF4-FFF2-40B4-BE49-F238E27FC236}">
                <a16:creationId xmlns:a16="http://schemas.microsoft.com/office/drawing/2014/main" id="{D2CE7D7D-8363-4E38-A87F-3BEB61BDD89F}"/>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09</a:t>
            </a:r>
          </a:p>
        </p:txBody>
      </p:sp>
      <p:pic>
        <p:nvPicPr>
          <p:cNvPr id="3" name="Picture 2">
            <a:extLst>
              <a:ext uri="{FF2B5EF4-FFF2-40B4-BE49-F238E27FC236}">
                <a16:creationId xmlns:a16="http://schemas.microsoft.com/office/drawing/2014/main" id="{3D0E0A5C-CFC4-411A-BF41-2ADDCFC82C59}"/>
              </a:ext>
            </a:extLst>
          </p:cNvPr>
          <p:cNvPicPr>
            <a:picLocks noChangeAspect="1"/>
          </p:cNvPicPr>
          <p:nvPr/>
        </p:nvPicPr>
        <p:blipFill>
          <a:blip r:embed="rId3"/>
          <a:stretch/>
        </p:blipFill>
        <p:spPr>
          <a:xfrm>
            <a:off x="610658" y="1381125"/>
            <a:ext cx="8856133" cy="4981575"/>
          </a:xfrm>
          <a:prstGeom prst="rect">
            <a:avLst/>
          </a:prstGeom>
        </p:spPr>
      </p:pic>
      <p:sp>
        <p:nvSpPr>
          <p:cNvPr id="4" name="Rectangle 3">
            <a:extLst>
              <a:ext uri="{FF2B5EF4-FFF2-40B4-BE49-F238E27FC236}">
                <a16:creationId xmlns:a16="http://schemas.microsoft.com/office/drawing/2014/main" id="{C5052E6D-8674-4CCF-9213-1193C7264FFC}"/>
              </a:ext>
            </a:extLst>
          </p:cNvPr>
          <p:cNvSpPr>
            <a:spLocks noGrp="1"/>
          </p:cNvSpPr>
          <p:nvPr/>
        </p:nvSpPr>
        <p:spPr>
          <a:xfrm>
            <a:off x="9763125" y="1981200"/>
            <a:ext cx="1857375" cy="3333750"/>
          </a:xfrm>
          <a:prstGeom prst="rect">
            <a:avLst/>
          </a:prstGeom>
          <a:noFill/>
          <a:ln w="0">
            <a:noFill/>
          </a:ln>
        </p:spPr>
        <p:txBody>
          <a:bodyPr/>
          <a:lstStyle>
            <a:defPPr>
              <a:defRPr sz="2025" b="1">
                <a:solidFill>
                  <a:srgbClr val="204C3B"/>
                </a:solidFill>
              </a:defRPr>
            </a:defPPr>
          </a:lstStyle>
          <a:p>
            <a:pPr>
              <a:defRPr sz="2025" b="1">
                <a:solidFill>
                  <a:srgbClr val="204C3B"/>
                </a:solidFill>
              </a:defRPr>
            </a:pPr>
            <a:r>
              <a:rPr sz="2025" b="1">
                <a:solidFill>
                  <a:srgbClr val="204C3B"/>
                </a:solidFill>
              </a:rPr>
              <a:t>Select a park</a:t>
            </a:r>
          </a:p>
          <a:p>
            <a:endParaRPr sz="2025" b="1">
              <a:solidFill>
                <a:srgbClr val="204C3B"/>
              </a:solidFill>
            </a:endParaRPr>
          </a:p>
          <a:p>
            <a:pPr>
              <a:defRPr sz="2025" b="1">
                <a:solidFill>
                  <a:srgbClr val="204C3B"/>
                </a:solidFill>
              </a:defRPr>
            </a:pPr>
            <a:r>
              <a:rPr sz="2025" b="1">
                <a:solidFill>
                  <a:srgbClr val="204C3B"/>
                </a:solidFill>
              </a:rPr>
              <a:t>Ask a question</a:t>
            </a:r>
          </a:p>
          <a:p>
            <a:endParaRPr sz="2025" b="1">
              <a:solidFill>
                <a:srgbClr val="204C3B"/>
              </a:solidFill>
            </a:endParaRPr>
          </a:p>
          <a:p>
            <a:pPr>
              <a:defRPr sz="2025" b="1">
                <a:solidFill>
                  <a:srgbClr val="204C3B"/>
                </a:solidFill>
              </a:defRPr>
            </a:pPr>
            <a:r>
              <a:rPr sz="2025" b="1">
                <a:solidFill>
                  <a:srgbClr val="204C3B"/>
                </a:solidFill>
              </a:rPr>
              <a:t>Inspect evidence</a:t>
            </a:r>
          </a:p>
        </p:txBody>
      </p:sp>
    </p:spTree>
    <p:extLst>
      <p:ext uri="{BB962C8B-B14F-4D97-AF65-F5344CB8AC3E}">
        <p14:creationId xmlns:p14="http://schemas.microsoft.com/office/powerpoint/2010/main" val="1091386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FA9F58F-29F7-4644-99FB-234FCFC5385E}"/>
              </a:ext>
            </a:extLst>
          </p:cNvPr>
          <p:cNvSpPr>
            <a:spLocks noGrp="1"/>
          </p:cNvSpPr>
          <p:nvPr/>
        </p:nvSpPr>
        <p:spPr>
          <a:xfrm>
            <a:off x="609600" y="428625"/>
            <a:ext cx="10972800" cy="781050"/>
          </a:xfrm>
          <a:prstGeom prst="rect">
            <a:avLst/>
          </a:prstGeom>
          <a:noFill/>
          <a:ln w="0">
            <a:noFill/>
          </a:ln>
        </p:spPr>
        <p:txBody>
          <a:bodyPr/>
          <a:lstStyle>
            <a:defPPr>
              <a:defRPr sz="3300" b="1">
                <a:solidFill>
                  <a:srgbClr val="204C3B"/>
                </a:solidFill>
              </a:defRPr>
            </a:defPPr>
          </a:lstStyle>
          <a:p>
            <a:pPr>
              <a:defRPr sz="3300" b="1">
                <a:solidFill>
                  <a:srgbClr val="204C3B"/>
                </a:solidFill>
              </a:defRPr>
            </a:pPr>
            <a:r>
              <a:rPr sz="3300" b="1">
                <a:solidFill>
                  <a:srgbClr val="204C3B"/>
                </a:solidFill>
              </a:rPr>
              <a:t>Corpus and </a:t>
            </a:r>
            <a:r>
              <a:rPr lang="en-IN" sz="3300" b="1">
                <a:solidFill>
                  <a:srgbClr val="204C3B"/>
                </a:solidFill>
              </a:rPr>
              <a:t>P</a:t>
            </a:r>
            <a:r>
              <a:rPr sz="3300" b="1" err="1">
                <a:solidFill>
                  <a:srgbClr val="204C3B"/>
                </a:solidFill>
              </a:rPr>
              <a:t>rovenance</a:t>
            </a:r>
            <a:r>
              <a:rPr sz="3300" b="1">
                <a:solidFill>
                  <a:srgbClr val="204C3B"/>
                </a:solidFill>
              </a:rPr>
              <a:t> </a:t>
            </a:r>
            <a:r>
              <a:rPr lang="en-IN" sz="3300" b="1">
                <a:solidFill>
                  <a:srgbClr val="204C3B"/>
                </a:solidFill>
              </a:rPr>
              <a:t>B</a:t>
            </a:r>
            <a:r>
              <a:rPr sz="3300" b="1">
                <a:solidFill>
                  <a:srgbClr val="204C3B"/>
                </a:solidFill>
              </a:rPr>
              <a:t>rowser</a:t>
            </a:r>
          </a:p>
        </p:txBody>
      </p:sp>
      <p:sp>
        <p:nvSpPr>
          <p:cNvPr id="2" name="Rectangle 1">
            <a:extLst>
              <a:ext uri="{FF2B5EF4-FFF2-40B4-BE49-F238E27FC236}">
                <a16:creationId xmlns:a16="http://schemas.microsoft.com/office/drawing/2014/main" id="{11C87270-01CD-4088-B307-28B7A8261FFA}"/>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10</a:t>
            </a:r>
          </a:p>
        </p:txBody>
      </p:sp>
      <p:pic>
        <p:nvPicPr>
          <p:cNvPr id="3" name="Picture 2">
            <a:extLst>
              <a:ext uri="{FF2B5EF4-FFF2-40B4-BE49-F238E27FC236}">
                <a16:creationId xmlns:a16="http://schemas.microsoft.com/office/drawing/2014/main" id="{64EBC23B-3985-4461-BD35-57688687A313}"/>
              </a:ext>
            </a:extLst>
          </p:cNvPr>
          <p:cNvPicPr>
            <a:picLocks noChangeAspect="1"/>
          </p:cNvPicPr>
          <p:nvPr/>
        </p:nvPicPr>
        <p:blipFill>
          <a:blip r:embed="rId3"/>
          <a:stretch/>
        </p:blipFill>
        <p:spPr>
          <a:xfrm>
            <a:off x="610658" y="1381125"/>
            <a:ext cx="8856133" cy="4981575"/>
          </a:xfrm>
          <a:prstGeom prst="rect">
            <a:avLst/>
          </a:prstGeom>
        </p:spPr>
      </p:pic>
      <p:sp>
        <p:nvSpPr>
          <p:cNvPr id="4" name="Rectangle 3">
            <a:extLst>
              <a:ext uri="{FF2B5EF4-FFF2-40B4-BE49-F238E27FC236}">
                <a16:creationId xmlns:a16="http://schemas.microsoft.com/office/drawing/2014/main" id="{3A18282A-58FC-4D6A-AD78-2D4B7D6F59D4}"/>
              </a:ext>
            </a:extLst>
          </p:cNvPr>
          <p:cNvSpPr>
            <a:spLocks noGrp="1"/>
          </p:cNvSpPr>
          <p:nvPr/>
        </p:nvSpPr>
        <p:spPr>
          <a:xfrm>
            <a:off x="9763125" y="1981200"/>
            <a:ext cx="1857375" cy="3333750"/>
          </a:xfrm>
          <a:prstGeom prst="rect">
            <a:avLst/>
          </a:prstGeom>
          <a:noFill/>
          <a:ln w="0">
            <a:noFill/>
          </a:ln>
        </p:spPr>
        <p:txBody>
          <a:bodyPr/>
          <a:lstStyle>
            <a:defPPr>
              <a:defRPr sz="2025" b="1">
                <a:solidFill>
                  <a:srgbClr val="204C3B"/>
                </a:solidFill>
              </a:defRPr>
            </a:defPPr>
          </a:lstStyle>
          <a:p>
            <a:pPr>
              <a:defRPr sz="2025" b="1">
                <a:solidFill>
                  <a:srgbClr val="204C3B"/>
                </a:solidFill>
              </a:defRPr>
            </a:pPr>
            <a:r>
              <a:rPr sz="2025" b="1">
                <a:solidFill>
                  <a:srgbClr val="204C3B"/>
                </a:solidFill>
              </a:rPr>
              <a:t>Saved text</a:t>
            </a:r>
          </a:p>
          <a:p>
            <a:endParaRPr sz="2025" b="1">
              <a:solidFill>
                <a:srgbClr val="204C3B"/>
              </a:solidFill>
            </a:endParaRPr>
          </a:p>
          <a:p>
            <a:pPr>
              <a:defRPr sz="2025" b="1">
                <a:solidFill>
                  <a:srgbClr val="204C3B"/>
                </a:solidFill>
              </a:defRPr>
            </a:pPr>
            <a:r>
              <a:rPr sz="2025" b="1">
                <a:solidFill>
                  <a:srgbClr val="204C3B"/>
                </a:solidFill>
              </a:rPr>
              <a:t>Build counts</a:t>
            </a:r>
          </a:p>
          <a:p>
            <a:endParaRPr sz="2025" b="1">
              <a:solidFill>
                <a:srgbClr val="204C3B"/>
              </a:solidFill>
            </a:endParaRPr>
          </a:p>
          <a:p>
            <a:pPr>
              <a:defRPr sz="2025" b="1">
                <a:solidFill>
                  <a:srgbClr val="204C3B"/>
                </a:solidFill>
              </a:defRPr>
            </a:pPr>
            <a:r>
              <a:rPr sz="2025" b="1">
                <a:solidFill>
                  <a:srgbClr val="204C3B"/>
                </a:solidFill>
              </a:rPr>
              <a:t>Source dates</a:t>
            </a:r>
          </a:p>
        </p:txBody>
      </p:sp>
    </p:spTree>
    <p:extLst>
      <p:ext uri="{BB962C8B-B14F-4D97-AF65-F5344CB8AC3E}">
        <p14:creationId xmlns:p14="http://schemas.microsoft.com/office/powerpoint/2010/main" val="726270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3906F66-0280-4F5E-B80B-689CA26651F6}"/>
              </a:ext>
            </a:extLst>
          </p:cNvPr>
          <p:cNvSpPr>
            <a:spLocks noGrp="1"/>
          </p:cNvSpPr>
          <p:nvPr/>
        </p:nvSpPr>
        <p:spPr>
          <a:xfrm>
            <a:off x="4653280" y="4065905"/>
            <a:ext cx="10972800" cy="781050"/>
          </a:xfrm>
          <a:prstGeom prst="rect">
            <a:avLst/>
          </a:prstGeom>
          <a:noFill/>
          <a:ln w="0">
            <a:noFill/>
          </a:ln>
        </p:spPr>
        <p:txBody>
          <a:bodyPr lIns="91440" tIns="45720" rIns="91440" bIns="45720" anchor="t"/>
          <a:lstStyle>
            <a:defPPr>
              <a:defRPr sz="3300" b="1">
                <a:solidFill>
                  <a:srgbClr val="204C3B"/>
                </a:solidFill>
              </a:defRPr>
            </a:defPPr>
          </a:lstStyle>
          <a:p>
            <a:pPr>
              <a:defRPr sz="3300" b="1">
                <a:solidFill>
                  <a:srgbClr val="204C3B"/>
                </a:solidFill>
              </a:defRPr>
            </a:pPr>
            <a:r>
              <a:rPr sz="3300" b="1">
                <a:solidFill>
                  <a:srgbClr val="204C3B"/>
                </a:solidFill>
              </a:rPr>
              <a:t>Team</a:t>
            </a:r>
          </a:p>
        </p:txBody>
      </p:sp>
      <p:sp>
        <p:nvSpPr>
          <p:cNvPr id="2" name="Rectangle 1">
            <a:extLst>
              <a:ext uri="{FF2B5EF4-FFF2-40B4-BE49-F238E27FC236}">
                <a16:creationId xmlns:a16="http://schemas.microsoft.com/office/drawing/2014/main" id="{4539198F-8C7F-4A6D-8F4D-0933AE683E35}"/>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14</a:t>
            </a:r>
          </a:p>
        </p:txBody>
      </p:sp>
      <p:sp>
        <p:nvSpPr>
          <p:cNvPr id="3" name="Rectangle 2">
            <a:extLst>
              <a:ext uri="{FF2B5EF4-FFF2-40B4-BE49-F238E27FC236}">
                <a16:creationId xmlns:a16="http://schemas.microsoft.com/office/drawing/2014/main" id="{6C831FAE-4D57-48BC-B02D-F4FA8EAC33ED}"/>
              </a:ext>
            </a:extLst>
          </p:cNvPr>
          <p:cNvSpPr>
            <a:spLocks noGrp="1"/>
          </p:cNvSpPr>
          <p:nvPr/>
        </p:nvSpPr>
        <p:spPr>
          <a:xfrm>
            <a:off x="4653280" y="4850130"/>
            <a:ext cx="10972800" cy="1047750"/>
          </a:xfrm>
          <a:prstGeom prst="rect">
            <a:avLst/>
          </a:prstGeom>
          <a:noFill/>
          <a:ln w="0">
            <a:noFill/>
          </a:ln>
        </p:spPr>
        <p:txBody>
          <a:bodyPr lIns="91440" tIns="45720" rIns="91440" bIns="45720" anchor="t"/>
          <a:lstStyle>
            <a:defPPr>
              <a:defRPr sz="1950" b="0">
                <a:solidFill>
                  <a:srgbClr val="1C3029"/>
                </a:solidFill>
              </a:defRPr>
            </a:defPPr>
          </a:lstStyle>
          <a:p>
            <a:pPr>
              <a:defRPr sz="1950" b="0">
                <a:solidFill>
                  <a:srgbClr val="1C3029"/>
                </a:solidFill>
              </a:defRPr>
            </a:pPr>
            <a:r>
              <a:rPr sz="1950" b="0">
                <a:solidFill>
                  <a:srgbClr val="1C3029"/>
                </a:solidFill>
              </a:rPr>
              <a:t>Adithya S Gummadi    /    Danail Banov    /    Naaman </a:t>
            </a:r>
            <a:r>
              <a:rPr sz="1950" b="0" err="1">
                <a:solidFill>
                  <a:srgbClr val="1C3029"/>
                </a:solidFill>
              </a:rPr>
              <a:t>Ondego</a:t>
            </a:r>
            <a:endParaRPr lang="en-US" sz="1950" b="0" err="1">
              <a:solidFill>
                <a:srgbClr val="1C3029"/>
              </a:solidFill>
            </a:endParaRPr>
          </a:p>
          <a:p>
            <a:pPr>
              <a:defRPr sz="1950" b="0">
                <a:solidFill>
                  <a:srgbClr val="1C3029"/>
                </a:solidFill>
              </a:defRPr>
            </a:pPr>
            <a:r>
              <a:rPr sz="1950" b="0">
                <a:solidFill>
                  <a:srgbClr val="1C3029"/>
                </a:solidFill>
              </a:rPr>
              <a:t>Pratik Bhavsar    /    Robin Cleve    /    Surya </a:t>
            </a:r>
            <a:r>
              <a:rPr lang="en-US" sz="1950">
                <a:solidFill>
                  <a:srgbClr val="1C3029"/>
                </a:solidFill>
              </a:rPr>
              <a:t>Vamsi </a:t>
            </a:r>
            <a:r>
              <a:rPr lang="en-US" sz="1950" err="1">
                <a:solidFill>
                  <a:srgbClr val="1C3029"/>
                </a:solidFill>
              </a:rPr>
              <a:t>Kolavennu</a:t>
            </a:r>
            <a:r>
              <a:rPr sz="1950" b="0">
                <a:solidFill>
                  <a:srgbClr val="1C3029"/>
                </a:solidFill>
              </a:rPr>
              <a:t>    /    Vishal Talla</a:t>
            </a:r>
          </a:p>
        </p:txBody>
      </p:sp>
      <p:sp>
        <p:nvSpPr>
          <p:cNvPr id="5" name="Rectangle 4">
            <a:extLst>
              <a:ext uri="{FF2B5EF4-FFF2-40B4-BE49-F238E27FC236}">
                <a16:creationId xmlns:a16="http://schemas.microsoft.com/office/drawing/2014/main" id="{67201107-67B8-4027-A8B7-0A994C7AC6BC}"/>
              </a:ext>
            </a:extLst>
          </p:cNvPr>
          <p:cNvSpPr>
            <a:spLocks noGrp="1"/>
          </p:cNvSpPr>
          <p:nvPr/>
        </p:nvSpPr>
        <p:spPr>
          <a:xfrm>
            <a:off x="609600" y="1439823"/>
            <a:ext cx="10780395" cy="1087755"/>
          </a:xfrm>
          <a:prstGeom prst="rect">
            <a:avLst/>
          </a:prstGeom>
          <a:noFill/>
          <a:ln w="0">
            <a:noFill/>
          </a:ln>
        </p:spPr>
        <p:txBody>
          <a:bodyPr lIns="91440" tIns="45720" rIns="91440" bIns="45720" anchor="t"/>
          <a:lstStyle>
            <a:defPPr>
              <a:defRPr sz="2025" b="0">
                <a:solidFill>
                  <a:srgbClr val="1C3029"/>
                </a:solidFill>
              </a:defRPr>
            </a:defPPr>
          </a:lstStyle>
          <a:p>
            <a:pPr>
              <a:defRPr sz="2025" b="0">
                <a:solidFill>
                  <a:srgbClr val="1C3029"/>
                </a:solidFill>
              </a:defRPr>
            </a:pPr>
            <a:r>
              <a:rPr sz="2000" b="0">
                <a:solidFill>
                  <a:srgbClr val="1C3029"/>
                </a:solidFill>
              </a:rPr>
              <a:t>Live </a:t>
            </a:r>
            <a:r>
              <a:rPr lang="en-US" sz="2000">
                <a:solidFill>
                  <a:srgbClr val="1C3029"/>
                </a:solidFill>
                <a:ea typeface="+mn-lt"/>
                <a:cs typeface="+mn-lt"/>
              </a:rPr>
              <a:t>Park Guide</a:t>
            </a:r>
            <a:r>
              <a:rPr lang="en-US" sz="2000">
                <a:solidFill>
                  <a:srgbClr val="1C3029"/>
                </a:solidFill>
              </a:rPr>
              <a:t> Chatbot</a:t>
            </a:r>
            <a:r>
              <a:rPr sz="2000" b="0">
                <a:solidFill>
                  <a:srgbClr val="1C3029"/>
                </a:solidFill>
              </a:rPr>
              <a:t>: parkguide-ai-dh24.vercel.app</a:t>
            </a:r>
            <a:br>
              <a:rPr lang="en-US" sz="2000">
                <a:solidFill>
                  <a:srgbClr val="1C3029"/>
                </a:solidFill>
              </a:rPr>
            </a:br>
            <a:endParaRPr lang="en-US" sz="2000" b="0">
              <a:solidFill>
                <a:srgbClr val="1C3029"/>
              </a:solidFill>
            </a:endParaRPr>
          </a:p>
          <a:p>
            <a:pPr>
              <a:defRPr sz="2025" b="0">
                <a:solidFill>
                  <a:srgbClr val="1C3029"/>
                </a:solidFill>
              </a:defRPr>
            </a:pPr>
            <a:r>
              <a:rPr sz="2000" b="0">
                <a:solidFill>
                  <a:srgbClr val="1C3029"/>
                </a:solidFill>
              </a:rPr>
              <a:t>Repository: github.com/</a:t>
            </a:r>
            <a:r>
              <a:rPr sz="2000" b="0" err="1">
                <a:solidFill>
                  <a:srgbClr val="1C3029"/>
                </a:solidFill>
              </a:rPr>
              <a:t>cleveee</a:t>
            </a:r>
            <a:r>
              <a:rPr sz="2000" b="0">
                <a:solidFill>
                  <a:srgbClr val="1C3029"/>
                </a:solidFill>
              </a:rPr>
              <a:t>/</a:t>
            </a:r>
            <a:r>
              <a:rPr sz="2000" b="0" err="1">
                <a:solidFill>
                  <a:srgbClr val="1C3029"/>
                </a:solidFill>
              </a:rPr>
              <a:t>parkguide</a:t>
            </a:r>
            <a:r>
              <a:rPr sz="2000" b="0">
                <a:solidFill>
                  <a:srgbClr val="1C3029"/>
                </a:solidFill>
              </a:rPr>
              <a:t>-ai</a:t>
            </a:r>
          </a:p>
        </p:txBody>
      </p:sp>
      <p:sp>
        <p:nvSpPr>
          <p:cNvPr id="6" name="Rectangle 5">
            <a:extLst>
              <a:ext uri="{FF2B5EF4-FFF2-40B4-BE49-F238E27FC236}">
                <a16:creationId xmlns:a16="http://schemas.microsoft.com/office/drawing/2014/main" id="{07F43CB3-41BB-42DA-B9F8-A02E3897A7E4}"/>
              </a:ext>
            </a:extLst>
          </p:cNvPr>
          <p:cNvSpPr>
            <a:spLocks noGrp="1"/>
          </p:cNvSpPr>
          <p:nvPr/>
        </p:nvSpPr>
        <p:spPr>
          <a:xfrm>
            <a:off x="609600" y="5667375"/>
            <a:ext cx="9525000" cy="476250"/>
          </a:xfrm>
          <a:prstGeom prst="rect">
            <a:avLst/>
          </a:prstGeom>
          <a:noFill/>
          <a:ln w="0">
            <a:noFill/>
          </a:ln>
        </p:spPr>
        <p:txBody>
          <a:bodyPr lIns="91440" tIns="45720" rIns="91440" bIns="45720" anchor="t"/>
          <a:lstStyle>
            <a:defPPr>
              <a:defRPr sz="2850" b="1">
                <a:solidFill>
                  <a:srgbClr val="204C3B"/>
                </a:solidFill>
              </a:defRPr>
            </a:defPPr>
          </a:lstStyle>
          <a:p>
            <a:pPr>
              <a:defRPr sz="2850" b="1">
                <a:solidFill>
                  <a:srgbClr val="204C3B"/>
                </a:solidFill>
              </a:defRPr>
            </a:pPr>
            <a:endParaRPr lang="en-US" sz="2850" b="1">
              <a:solidFill>
                <a:srgbClr val="204C3B"/>
              </a:solidFill>
            </a:endParaRPr>
          </a:p>
        </p:txBody>
      </p:sp>
      <p:sp>
        <p:nvSpPr>
          <p:cNvPr id="4" name="Rectangle 3">
            <a:extLst>
              <a:ext uri="{FF2B5EF4-FFF2-40B4-BE49-F238E27FC236}">
                <a16:creationId xmlns:a16="http://schemas.microsoft.com/office/drawing/2014/main" id="{1500287B-36B3-3257-690D-688BF1CB7F9C}"/>
              </a:ext>
            </a:extLst>
          </p:cNvPr>
          <p:cNvSpPr>
            <a:spLocks noGrp="1"/>
          </p:cNvSpPr>
          <p:nvPr/>
        </p:nvSpPr>
        <p:spPr>
          <a:xfrm>
            <a:off x="657820" y="659554"/>
            <a:ext cx="10972800" cy="781050"/>
          </a:xfrm>
          <a:prstGeom prst="rect">
            <a:avLst/>
          </a:prstGeom>
          <a:noFill/>
          <a:ln w="0">
            <a:noFill/>
          </a:ln>
        </p:spPr>
        <p:txBody>
          <a:bodyPr lIns="91440" tIns="45720" rIns="91440" bIns="45720" anchor="t"/>
          <a:lstStyle>
            <a:defPPr>
              <a:defRPr sz="3300" b="1">
                <a:solidFill>
                  <a:srgbClr val="204C3B"/>
                </a:solidFill>
              </a:defRPr>
            </a:defPPr>
          </a:lstStyle>
          <a:p>
            <a:pPr>
              <a:defRPr sz="3300" b="1">
                <a:solidFill>
                  <a:srgbClr val="204C3B"/>
                </a:solidFill>
              </a:defRPr>
            </a:pPr>
            <a:r>
              <a:rPr lang="en-US" sz="3300">
                <a:solidFill>
                  <a:srgbClr val="204C3B"/>
                </a:solidFill>
                <a:ea typeface="+mn-lt"/>
                <a:cs typeface="+mn-lt"/>
              </a:rPr>
              <a:t>Deliverables:</a:t>
            </a:r>
            <a:endParaRPr lang="en-US"/>
          </a:p>
        </p:txBody>
      </p:sp>
    </p:spTree>
    <p:extLst>
      <p:ext uri="{BB962C8B-B14F-4D97-AF65-F5344CB8AC3E}">
        <p14:creationId xmlns:p14="http://schemas.microsoft.com/office/powerpoint/2010/main" val="247860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EB"/>
        </a:solidFill>
        <a:effectLst/>
      </p:bgPr>
    </p:bg>
    <p:spTree>
      <p:nvGrpSpPr>
        <p:cNvPr id="1" name="">
          <a:extLst>
            <a:ext uri="{FF2B5EF4-FFF2-40B4-BE49-F238E27FC236}">
              <a16:creationId xmlns:a16="http://schemas.microsoft.com/office/drawing/2014/main" id="{E7055F98-C94C-94E7-BB34-BD296DC5022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29ECABA-B591-82DB-E4FF-FF9FFB416F79}"/>
              </a:ext>
            </a:extLst>
          </p:cNvPr>
          <p:cNvSpPr>
            <a:spLocks noGrp="1"/>
          </p:cNvSpPr>
          <p:nvPr/>
        </p:nvSpPr>
        <p:spPr>
          <a:xfrm>
            <a:off x="406682" y="3034947"/>
            <a:ext cx="10972800" cy="781050"/>
          </a:xfrm>
          <a:prstGeom prst="rect">
            <a:avLst/>
          </a:prstGeom>
          <a:noFill/>
          <a:ln w="0">
            <a:noFill/>
          </a:ln>
        </p:spPr>
        <p:txBody>
          <a:bodyPr lIns="91440" tIns="45720" rIns="91440" bIns="45720" anchor="t"/>
          <a:lstStyle>
            <a:defPPr>
              <a:defRPr sz="3300" b="1">
                <a:solidFill>
                  <a:srgbClr val="204C3B"/>
                </a:solidFill>
              </a:defRPr>
            </a:defPPr>
          </a:lstStyle>
          <a:p>
            <a:pPr algn="ctr">
              <a:defRPr sz="3300" b="1">
                <a:solidFill>
                  <a:srgbClr val="204C3B"/>
                </a:solidFill>
              </a:defRPr>
            </a:pPr>
            <a:r>
              <a:rPr lang="en-US" sz="4000" b="1">
                <a:solidFill>
                  <a:srgbClr val="204C3B"/>
                </a:solidFill>
              </a:rPr>
              <a:t>Thank you</a:t>
            </a:r>
            <a:endParaRPr lang="en-US" sz="4000"/>
          </a:p>
        </p:txBody>
      </p:sp>
      <p:sp>
        <p:nvSpPr>
          <p:cNvPr id="2" name="Rectangle 1">
            <a:extLst>
              <a:ext uri="{FF2B5EF4-FFF2-40B4-BE49-F238E27FC236}">
                <a16:creationId xmlns:a16="http://schemas.microsoft.com/office/drawing/2014/main" id="{FD365586-DFD7-E5CD-37E7-F9766B91D16C}"/>
              </a:ext>
            </a:extLst>
          </p:cNvPr>
          <p:cNvSpPr>
            <a:spLocks noGrp="1"/>
          </p:cNvSpPr>
          <p:nvPr/>
        </p:nvSpPr>
        <p:spPr>
          <a:xfrm>
            <a:off x="11144250" y="6381750"/>
            <a:ext cx="476250" cy="238125"/>
          </a:xfrm>
          <a:prstGeom prst="rect">
            <a:avLst/>
          </a:prstGeom>
          <a:noFill/>
          <a:ln w="0">
            <a:noFill/>
          </a:ln>
        </p:spPr>
        <p:txBody>
          <a:bodyPr/>
          <a:lstStyle>
            <a:defPPr>
              <a:defRPr sz="1200" b="0">
                <a:solidFill>
                  <a:srgbClr val="59685F"/>
                </a:solidFill>
              </a:defRPr>
            </a:defPPr>
          </a:lstStyle>
          <a:p>
            <a:pPr>
              <a:defRPr sz="1200" b="0">
                <a:solidFill>
                  <a:srgbClr val="59685F"/>
                </a:solidFill>
              </a:defRPr>
            </a:pPr>
            <a:r>
              <a:rPr sz="1200" b="0">
                <a:solidFill>
                  <a:srgbClr val="59685F"/>
                </a:solidFill>
              </a:rPr>
              <a:t>14</a:t>
            </a:r>
          </a:p>
        </p:txBody>
      </p:sp>
      <p:sp>
        <p:nvSpPr>
          <p:cNvPr id="5" name="Rectangle 4">
            <a:extLst>
              <a:ext uri="{FF2B5EF4-FFF2-40B4-BE49-F238E27FC236}">
                <a16:creationId xmlns:a16="http://schemas.microsoft.com/office/drawing/2014/main" id="{D1C699C0-A560-CE23-F7FC-F4B0C4659AD0}"/>
              </a:ext>
            </a:extLst>
          </p:cNvPr>
          <p:cNvSpPr>
            <a:spLocks noGrp="1"/>
          </p:cNvSpPr>
          <p:nvPr/>
        </p:nvSpPr>
        <p:spPr>
          <a:xfrm>
            <a:off x="609600" y="1254125"/>
            <a:ext cx="10780395" cy="1087755"/>
          </a:xfrm>
          <a:prstGeom prst="rect">
            <a:avLst/>
          </a:prstGeom>
          <a:noFill/>
          <a:ln w="0">
            <a:noFill/>
          </a:ln>
        </p:spPr>
        <p:txBody>
          <a:bodyPr lIns="91440" tIns="45720" rIns="91440" bIns="45720" anchor="t"/>
          <a:lstStyle>
            <a:defPPr>
              <a:defRPr sz="2025" b="0">
                <a:solidFill>
                  <a:srgbClr val="1C3029"/>
                </a:solidFill>
              </a:defRPr>
            </a:defPPr>
          </a:lstStyle>
          <a:p>
            <a:pPr>
              <a:defRPr sz="2025" b="0">
                <a:solidFill>
                  <a:srgbClr val="1C3029"/>
                </a:solidFill>
              </a:defRPr>
            </a:pPr>
            <a:endParaRPr lang="en-US" sz="2000" b="0">
              <a:solidFill>
                <a:srgbClr val="1C3029"/>
              </a:solidFill>
            </a:endParaRPr>
          </a:p>
        </p:txBody>
      </p:sp>
      <p:sp>
        <p:nvSpPr>
          <p:cNvPr id="6" name="Rectangle 5">
            <a:extLst>
              <a:ext uri="{FF2B5EF4-FFF2-40B4-BE49-F238E27FC236}">
                <a16:creationId xmlns:a16="http://schemas.microsoft.com/office/drawing/2014/main" id="{04E9840B-3DA8-7749-595D-62D694DF5A67}"/>
              </a:ext>
            </a:extLst>
          </p:cNvPr>
          <p:cNvSpPr>
            <a:spLocks noGrp="1"/>
          </p:cNvSpPr>
          <p:nvPr/>
        </p:nvSpPr>
        <p:spPr>
          <a:xfrm>
            <a:off x="609600" y="5667375"/>
            <a:ext cx="9525000" cy="476250"/>
          </a:xfrm>
          <a:prstGeom prst="rect">
            <a:avLst/>
          </a:prstGeom>
          <a:noFill/>
          <a:ln w="0">
            <a:noFill/>
          </a:ln>
        </p:spPr>
        <p:txBody>
          <a:bodyPr lIns="91440" tIns="45720" rIns="91440" bIns="45720" anchor="t"/>
          <a:lstStyle>
            <a:defPPr>
              <a:defRPr sz="2850" b="1">
                <a:solidFill>
                  <a:srgbClr val="204C3B"/>
                </a:solidFill>
              </a:defRPr>
            </a:defPPr>
          </a:lstStyle>
          <a:p>
            <a:pPr>
              <a:defRPr sz="2850" b="1">
                <a:solidFill>
                  <a:srgbClr val="204C3B"/>
                </a:solidFill>
              </a:defRPr>
            </a:pPr>
            <a:endParaRPr lang="en-US" sz="2850" b="1">
              <a:solidFill>
                <a:srgbClr val="204C3B"/>
              </a:solidFill>
            </a:endParaRPr>
          </a:p>
        </p:txBody>
      </p:sp>
    </p:spTree>
    <p:extLst>
      <p:ext uri="{BB962C8B-B14F-4D97-AF65-F5344CB8AC3E}">
        <p14:creationId xmlns:p14="http://schemas.microsoft.com/office/powerpoint/2010/main" val="225991207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15</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5</cp:revision>
  <dcterms:created xsi:type="dcterms:W3CDTF">2026-10-10T18:59:24Z</dcterms:created>
  <dcterms:modified xsi:type="dcterms:W3CDTF">2026-10-11T14:12:12Z</dcterms:modified>
</cp:coreProperties>
</file>